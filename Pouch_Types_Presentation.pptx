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2" r:id="rId11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74320"/>
            <a:ext cx="25603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AJ SHRINK ERP</a:t>
            </a:r>
            <a:endParaRPr sz="1300" b="1" i="0">
              <a:solidFill>
                <a:srgbClr val="0F172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11887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CBD5E1"/>
                </a:solidFill>
              </a:rPr>
              <a:t>Flexible Packaging</a:t>
            </a:r>
            <a:endParaRPr sz="3800" b="0" i="0">
              <a:solidFill>
                <a:srgbClr val="CBD5E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Pouch Types &amp; Specifications</a:t>
            </a:r>
            <a:endParaRPr sz="52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83080" y="29718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Film Width · Repeat Length · Seal &amp; Gusset Calculations</a:t>
            </a:r>
            <a:endParaRPr sz="1800" b="0" i="0">
              <a:solidFill>
                <a:srgbClr val="38BDF8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0" y="3611880"/>
            <a:ext cx="3931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3840480"/>
            <a:ext cx="155448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7769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3 Side Seal</a:t>
            </a:r>
            <a:endParaRPr sz="1000" b="1" i="0">
              <a:solidFill>
                <a:srgbClr val="0F172A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91839" y="3840480"/>
            <a:ext cx="155448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39" y="378587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Center Seal</a:t>
            </a:r>
            <a:endParaRPr sz="1000" b="1" i="0">
              <a:solidFill>
                <a:srgbClr val="0F172A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66359" y="3840480"/>
            <a:ext cx="1554480" cy="5029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59" y="38404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Standup / Zipper</a:t>
            </a:r>
            <a:endParaRPr sz="1000" b="1" i="0">
              <a:solidFill>
                <a:srgbClr val="0F172A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040879" y="3840480"/>
            <a:ext cx="155448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79" y="38404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Both Side Gusset</a:t>
            </a:r>
            <a:endParaRPr sz="1000" b="1" i="0">
              <a:solidFill>
                <a:srgbClr val="0F172A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15400" y="3840480"/>
            <a:ext cx="1554480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38404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3D Flat Bottom</a:t>
            </a:r>
            <a:endParaRPr sz="1000" b="1" i="0">
              <a:solidFill>
                <a:srgbClr val="0F172A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400" y="6217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BD5E1"/>
                </a:solidFill>
              </a:rPr>
              <a:t>Confidential — Client Presentation</a:t>
            </a:r>
            <a:endParaRPr sz="1100" b="0" i="1">
              <a:solidFill>
                <a:srgbClr val="CBD5E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5 POUCH TYPES — OVERVIEW</a:t>
            </a:r>
            <a:endParaRPr sz="1300" b="1" i="0">
              <a:solidFill>
                <a:srgbClr val="38BDF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Film Width &amp; Repeat Formulas at a Glance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#</a:t>
            </a:r>
            <a:endParaRPr sz="1100" b="1" i="0">
              <a:solidFill>
                <a:srgbClr val="38BDF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111556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Pouch Type</a:t>
            </a:r>
            <a:endParaRPr sz="1100" b="1" i="0">
              <a:solidFill>
                <a:srgbClr val="38BDF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6079" y="11155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Film Width Formula</a:t>
            </a:r>
            <a:endParaRPr sz="1100" b="1" i="0">
              <a:solidFill>
                <a:srgbClr val="38BDF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9440" y="1115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Repeat Length Formula</a:t>
            </a:r>
            <a:endParaRPr sz="1100" b="1" i="0">
              <a:solidFill>
                <a:srgbClr val="38BDF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1572768"/>
            <a:ext cx="11155680" cy="804672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572768"/>
            <a:ext cx="54864" cy="8046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682495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①</a:t>
            </a:r>
            <a:endParaRPr sz="2000" b="1" i="0">
              <a:solidFill>
                <a:srgbClr val="38BDF8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1627632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 Side Seal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6079" y="1627632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W + 2×Side Seal</a:t>
            </a:r>
            <a:endParaRPr sz="1300" b="0" i="0">
              <a:solidFill>
                <a:srgbClr val="CBD5E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49440" y="162763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H + Top Seal + Bottom Seal</a:t>
            </a:r>
            <a:endParaRPr sz="1300" b="0" i="0">
              <a:solidFill>
                <a:srgbClr val="CBD5E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2414016"/>
            <a:ext cx="11155680" cy="804672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414016"/>
            <a:ext cx="54864" cy="8046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52374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②</a:t>
            </a:r>
            <a:endParaRPr sz="2000" b="1" i="0">
              <a:solidFill>
                <a:srgbClr val="34D399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" y="246888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Center Seal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26079" y="24688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W×2 + Center Seal Width</a:t>
            </a:r>
            <a:endParaRPr sz="1300" b="0" i="0">
              <a:solidFill>
                <a:srgbClr val="CBD5E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49440" y="246888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H + Top Seal + Bottom Seal</a:t>
            </a:r>
            <a:endParaRPr sz="1300" b="0" i="0">
              <a:solidFill>
                <a:srgbClr val="CBD5E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3255264"/>
            <a:ext cx="11155680" cy="804672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255264"/>
            <a:ext cx="54864" cy="8046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336499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B923C"/>
                </a:solidFill>
              </a:rPr>
              <a:t>③</a:t>
            </a:r>
            <a:endParaRPr sz="2000" b="1" i="0">
              <a:solidFill>
                <a:srgbClr val="FB923C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97280" y="33101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Standup / Zipper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26079" y="331012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W + 2×Side Seal</a:t>
            </a:r>
            <a:endParaRPr sz="1300" b="0" i="0">
              <a:solidFill>
                <a:srgbClr val="CBD5E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49440" y="3310128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H + Top Seal + Gusset÷2</a:t>
            </a:r>
            <a:endParaRPr sz="1300" b="0" i="0">
              <a:solidFill>
                <a:srgbClr val="CBD5E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4096512"/>
            <a:ext cx="11155680" cy="804672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096512"/>
            <a:ext cx="54864" cy="8046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4206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</a:rPr>
              <a:t>④</a:t>
            </a:r>
            <a:endParaRPr sz="2000" b="1" i="0">
              <a:solidFill>
                <a:srgbClr val="A78BFA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" y="4151376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Both Side Gusset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26079" y="4151376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W + 2×Side Gusset</a:t>
            </a:r>
            <a:endParaRPr sz="1300" b="0" i="0">
              <a:solidFill>
                <a:srgbClr val="CBD5E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49440" y="4151376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H + Top Seal + Bottom Seal</a:t>
            </a:r>
            <a:endParaRPr sz="1300" b="0" i="0">
              <a:solidFill>
                <a:srgbClr val="CBD5E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2920" y="4937760"/>
            <a:ext cx="11155680" cy="804672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937760"/>
            <a:ext cx="54864" cy="8046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50474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D4BF"/>
                </a:solidFill>
              </a:rPr>
              <a:t>⑤</a:t>
            </a:r>
            <a:endParaRPr sz="2000" b="1" i="0">
              <a:solidFill>
                <a:srgbClr val="2DD4BF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97280" y="4992624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3D / Flat Bottom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926079" y="4992624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W + 2×Side Gusset</a:t>
            </a:r>
            <a:endParaRPr sz="1300" b="0" i="0">
              <a:solidFill>
                <a:srgbClr val="CBD5E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949440" y="4992624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H + Top Seal + Bottom Gusset÷2</a:t>
            </a:r>
            <a:endParaRPr sz="1300" b="0" i="0">
              <a:solidFill>
                <a:srgbClr val="CBD5E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41148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①</a:t>
            </a:r>
            <a:endParaRPr sz="1600" b="1" i="0">
              <a:solidFill>
                <a:srgbClr val="0F172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3 SIDE SEAL POUCH</a:t>
            </a:r>
            <a:endParaRPr sz="2600" b="1" i="0">
              <a:solidFill>
                <a:srgbClr val="38BDF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</a:rPr>
              <a:t>Three-sided sealed flat pouch — most common for snacks, spices, sachets</a:t>
            </a:r>
            <a:endParaRPr sz="1400" b="0" i="1">
              <a:solidFill>
                <a:srgbClr val="CBD5E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87552"/>
            <a:ext cx="111556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5120640" cy="50292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38527" y="2240280"/>
            <a:ext cx="2249424" cy="2962656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38527" y="2240280"/>
            <a:ext cx="256032" cy="2962656"/>
          </a:xfrm>
          <a:prstGeom prst="rect">
            <a:avLst/>
          </a:prstGeom>
          <a:solidFill>
            <a:srgbClr val="1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19" y="2240280"/>
            <a:ext cx="256032" cy="2962656"/>
          </a:xfrm>
          <a:prstGeom prst="rect">
            <a:avLst/>
          </a:prstGeom>
          <a:solidFill>
            <a:srgbClr val="1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4559" y="2240280"/>
            <a:ext cx="1737360" cy="201168"/>
          </a:xfrm>
          <a:prstGeom prst="rect">
            <a:avLst/>
          </a:prstGeom>
          <a:solidFill>
            <a:srgbClr val="1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59" y="5001768"/>
            <a:ext cx="1737360" cy="201168"/>
          </a:xfrm>
          <a:prstGeom prst="rect">
            <a:avLst/>
          </a:prstGeom>
          <a:solidFill>
            <a:srgbClr val="1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4559" y="2441448"/>
            <a:ext cx="1737360" cy="2560320"/>
          </a:xfrm>
          <a:prstGeom prst="rect">
            <a:avLst/>
          </a:prstGeom>
          <a:solidFill>
            <a:srgbClr val="1A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199" y="3474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BODY</a:t>
            </a:r>
            <a:endParaRPr sz="8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38527" y="361188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38BDF8"/>
                </a:solidFill>
              </a:rPr>
              <a:t>SIDE SEAL</a:t>
            </a:r>
            <a:endParaRPr sz="600" b="1" i="0">
              <a:solidFill>
                <a:srgbClr val="38BDF8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4559" y="2221992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38BDF8"/>
                </a:solidFill>
              </a:rPr>
              <a:t>TOP SEAL</a:t>
            </a:r>
            <a:endParaRPr sz="600" b="1" i="0">
              <a:solidFill>
                <a:srgbClr val="38BDF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4559" y="4983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38BDF8"/>
                </a:solidFill>
              </a:rPr>
              <a:t>BTM SEAL</a:t>
            </a:r>
            <a:endParaRPr sz="600" b="1" i="0">
              <a:solidFill>
                <a:srgbClr val="38BDF8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531266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← Film Width: W + 2×S →</a:t>
            </a:r>
            <a:endParaRPr sz="900" b="1" i="0">
              <a:solidFill>
                <a:srgbClr val="38BDF8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129076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BD5E1"/>
                </a:solidFill>
              </a:rPr>
              <a:t>↑ Repeat: H+Top+Btm ↓</a:t>
            </a:r>
            <a:endParaRPr sz="700" b="0" i="1">
              <a:solidFill>
                <a:srgbClr val="CBD5E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1115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DIAGRAM</a:t>
            </a:r>
            <a:endParaRPr sz="900" b="1" i="0">
              <a:solidFill>
                <a:srgbClr val="38BDF8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897880" y="1097280"/>
            <a:ext cx="5760720" cy="13258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1097280"/>
            <a:ext cx="54864" cy="1325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FILM WIDTH (Across web direction)</a:t>
            </a:r>
            <a:endParaRPr sz="900" b="1" i="0">
              <a:solidFill>
                <a:srgbClr val="38BDF8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3504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Film Width  =  W  +  2 × Side Seal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35040" y="1801368"/>
            <a:ext cx="5440680" cy="27432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183794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REPEAT LENGTH (Cylinder circumference direction)</a:t>
            </a:r>
            <a:endParaRPr sz="900" b="1" i="0">
              <a:solidFill>
                <a:srgbClr val="38BDF8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3504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Repeat  =  H  +  Top Seal  +  Bottom Seal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97880" y="25786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INPUT PARAMETERS</a:t>
            </a:r>
            <a:endParaRPr sz="1000" b="1" i="0">
              <a:solidFill>
                <a:srgbClr val="38BDF8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897880" y="2862072"/>
            <a:ext cx="57607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>
            <p:custDataLst>
              <p:tags r:id="rId1"/>
            </p:custDataLst>
          </p:nvPr>
        </p:nvSpPr>
        <p:spPr>
          <a:xfrm>
            <a:off x="5897880" y="2944368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>
            <p:custDataLst>
              <p:tags r:id="rId2"/>
            </p:custDataLst>
          </p:nvPr>
        </p:nvSpPr>
        <p:spPr>
          <a:xfrm>
            <a:off x="5897880" y="2944368"/>
            <a:ext cx="45720" cy="4480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>
            <p:custDataLst>
              <p:tags r:id="rId3"/>
            </p:custDataLst>
          </p:nvPr>
        </p:nvSpPr>
        <p:spPr>
          <a:xfrm>
            <a:off x="6007608" y="29718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W — Pouch Width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35" name="TextBox 34"/>
          <p:cNvSpPr txBox="1"/>
          <p:nvPr>
            <p:custDataLst>
              <p:tags r:id="rId4"/>
            </p:custDataLst>
          </p:nvPr>
        </p:nvSpPr>
        <p:spPr>
          <a:xfrm>
            <a:off x="6007608" y="3163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130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>
            <p:custDataLst>
              <p:tags r:id="rId5"/>
            </p:custDataLst>
          </p:nvPr>
        </p:nvSpPr>
        <p:spPr>
          <a:xfrm>
            <a:off x="8778240" y="2944368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>
            <p:custDataLst>
              <p:tags r:id="rId6"/>
            </p:custDataLst>
          </p:nvPr>
        </p:nvSpPr>
        <p:spPr>
          <a:xfrm>
            <a:off x="8778240" y="2944368"/>
            <a:ext cx="45720" cy="4480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>
            <p:custDataLst>
              <p:tags r:id="rId7"/>
            </p:custDataLst>
          </p:nvPr>
        </p:nvSpPr>
        <p:spPr>
          <a:xfrm>
            <a:off x="8887967" y="29718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H — Pouch Height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39" name="TextBox 38"/>
          <p:cNvSpPr txBox="1"/>
          <p:nvPr>
            <p:custDataLst>
              <p:tags r:id="rId8"/>
            </p:custDataLst>
          </p:nvPr>
        </p:nvSpPr>
        <p:spPr>
          <a:xfrm>
            <a:off x="8887967" y="3163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200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0" name="Rectangle 39"/>
          <p:cNvSpPr/>
          <p:nvPr>
            <p:custDataLst>
              <p:tags r:id="rId9"/>
            </p:custDataLst>
          </p:nvPr>
        </p:nvSpPr>
        <p:spPr>
          <a:xfrm>
            <a:off x="5897880" y="3456432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>
            <p:custDataLst>
              <p:tags r:id="rId10"/>
            </p:custDataLst>
          </p:nvPr>
        </p:nvSpPr>
        <p:spPr>
          <a:xfrm>
            <a:off x="5897880" y="3456432"/>
            <a:ext cx="45720" cy="4480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>
            <p:custDataLst>
              <p:tags r:id="rId11"/>
            </p:custDataLst>
          </p:nvPr>
        </p:nvSpPr>
        <p:spPr>
          <a:xfrm>
            <a:off x="6007608" y="348386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Top Seal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43" name="TextBox 42"/>
          <p:cNvSpPr txBox="1"/>
          <p:nvPr>
            <p:custDataLst>
              <p:tags r:id="rId12"/>
            </p:custDataLst>
          </p:nvPr>
        </p:nvSpPr>
        <p:spPr>
          <a:xfrm>
            <a:off x="6007608" y="36758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10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4" name="Rectangle 43"/>
          <p:cNvSpPr/>
          <p:nvPr>
            <p:custDataLst>
              <p:tags r:id="rId13"/>
            </p:custDataLst>
          </p:nvPr>
        </p:nvSpPr>
        <p:spPr>
          <a:xfrm>
            <a:off x="8778240" y="3456432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>
            <p:custDataLst>
              <p:tags r:id="rId14"/>
            </p:custDataLst>
          </p:nvPr>
        </p:nvSpPr>
        <p:spPr>
          <a:xfrm>
            <a:off x="8778240" y="3456432"/>
            <a:ext cx="45720" cy="4480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>
            <p:custDataLst>
              <p:tags r:id="rId15"/>
            </p:custDataLst>
          </p:nvPr>
        </p:nvSpPr>
        <p:spPr>
          <a:xfrm>
            <a:off x="8887967" y="348386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Bottom Seal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47" name="TextBox 46"/>
          <p:cNvSpPr txBox="1"/>
          <p:nvPr>
            <p:custDataLst>
              <p:tags r:id="rId16"/>
            </p:custDataLst>
          </p:nvPr>
        </p:nvSpPr>
        <p:spPr>
          <a:xfrm>
            <a:off x="8887967" y="36758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8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8" name="Rectangle 47"/>
          <p:cNvSpPr/>
          <p:nvPr>
            <p:custDataLst>
              <p:tags r:id="rId17"/>
            </p:custDataLst>
          </p:nvPr>
        </p:nvSpPr>
        <p:spPr>
          <a:xfrm>
            <a:off x="5897880" y="3968496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>
            <p:custDataLst>
              <p:tags r:id="rId18"/>
            </p:custDataLst>
          </p:nvPr>
        </p:nvSpPr>
        <p:spPr>
          <a:xfrm>
            <a:off x="5897880" y="3968496"/>
            <a:ext cx="45720" cy="4480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>
            <p:custDataLst>
              <p:tags r:id="rId19"/>
            </p:custDataLst>
          </p:nvPr>
        </p:nvSpPr>
        <p:spPr>
          <a:xfrm>
            <a:off x="6007608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Side Seal (each side)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51" name="TextBox 50"/>
          <p:cNvSpPr txBox="1"/>
          <p:nvPr>
            <p:custDataLst>
              <p:tags r:id="rId20"/>
            </p:custDataLst>
          </p:nvPr>
        </p:nvSpPr>
        <p:spPr>
          <a:xfrm>
            <a:off x="6007608" y="41879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10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2" name="Rectangle 51"/>
          <p:cNvSpPr/>
          <p:nvPr>
            <p:custDataLst>
              <p:tags r:id="rId21"/>
            </p:custDataLst>
          </p:nvPr>
        </p:nvSpPr>
        <p:spPr>
          <a:xfrm>
            <a:off x="8778240" y="3968496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>
            <p:custDataLst>
              <p:tags r:id="rId22"/>
            </p:custDataLst>
          </p:nvPr>
        </p:nvSpPr>
        <p:spPr>
          <a:xfrm>
            <a:off x="8778240" y="3968496"/>
            <a:ext cx="45720" cy="4480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>
            <p:custDataLst>
              <p:tags r:id="rId23"/>
            </p:custDataLst>
          </p:nvPr>
        </p:nvSpPr>
        <p:spPr>
          <a:xfrm>
            <a:off x="8887967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Film Width (total)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55" name="TextBox 54"/>
          <p:cNvSpPr txBox="1"/>
          <p:nvPr>
            <p:custDataLst>
              <p:tags r:id="rId24"/>
            </p:custDataLst>
          </p:nvPr>
        </p:nvSpPr>
        <p:spPr>
          <a:xfrm>
            <a:off x="8887967" y="41879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130 + 2×10 = 150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897880" y="4572000"/>
            <a:ext cx="5760720" cy="502920"/>
          </a:xfrm>
          <a:prstGeom prst="rect">
            <a:avLst/>
          </a:prstGeom>
          <a:solidFill>
            <a:srgbClr val="0C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97880" y="457200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462686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4D399"/>
                </a:solidFill>
              </a:rPr>
              <a:t>💡  Film is folded at top — no seal needed there. Left, right, and bottom edges are sealed.</a:t>
            </a:r>
            <a:endParaRPr sz="1000" b="0" i="1">
              <a:solidFill>
                <a:srgbClr val="34D399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41148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②</a:t>
            </a:r>
            <a:endParaRPr sz="1600" b="1" i="0">
              <a:solidFill>
                <a:srgbClr val="0F172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4D399"/>
                </a:solidFill>
              </a:rPr>
              <a:t>CENTER SEAL POUCH</a:t>
            </a:r>
            <a:endParaRPr sz="2600" b="1" i="0">
              <a:solidFill>
                <a:srgbClr val="34D39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</a:rPr>
              <a:t>Film wraps around — sealed at center back, used for pillow packs &amp; liquid sachets</a:t>
            </a:r>
            <a:endParaRPr sz="1400" b="0" i="1">
              <a:solidFill>
                <a:srgbClr val="CBD5E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87552"/>
            <a:ext cx="1115568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5120640" cy="50292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48255" y="2240280"/>
            <a:ext cx="914400" cy="2871216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63824" y="2240280"/>
            <a:ext cx="914400" cy="2871216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2656" y="2240280"/>
            <a:ext cx="201168" cy="2871216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48255" y="2240280"/>
            <a:ext cx="2029968" cy="201168"/>
          </a:xfrm>
          <a:prstGeom prst="rect">
            <a:avLst/>
          </a:prstGeom>
          <a:solidFill>
            <a:srgbClr val="3B2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8255" y="4910328"/>
            <a:ext cx="2029968" cy="201168"/>
          </a:xfrm>
          <a:prstGeom prst="rect">
            <a:avLst/>
          </a:prstGeom>
          <a:solidFill>
            <a:srgbClr val="3B2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4015" y="3474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  <a:endParaRPr sz="1000" b="1" i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83864" y="3474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</a:t>
            </a:r>
            <a:endParaRPr sz="10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62656" y="3331342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34D399"/>
                </a:solidFill>
              </a:rPr>
              <a:t>CENTER
SEAL</a:t>
            </a:r>
            <a:endParaRPr sz="500" b="1" i="0">
              <a:solidFill>
                <a:srgbClr val="34D39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48255" y="2221992"/>
            <a:ext cx="2029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34D399"/>
                </a:solidFill>
              </a:rPr>
              <a:t>TOP SEAL</a:t>
            </a:r>
            <a:endParaRPr sz="600" b="1" i="0">
              <a:solidFill>
                <a:srgbClr val="34D399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48255" y="4892040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34D399"/>
                </a:solidFill>
              </a:rPr>
              <a:t>BTM SEAL</a:t>
            </a:r>
            <a:endParaRPr sz="600" b="1" i="0">
              <a:solidFill>
                <a:srgbClr val="34D399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522122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</a:rPr>
              <a:t>← Film Width: 2W + CenterSeal →</a:t>
            </a:r>
            <a:endParaRPr sz="900" b="1" i="0">
              <a:solidFill>
                <a:srgbClr val="34D399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1115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</a:rPr>
              <a:t>DIAGRAM</a:t>
            </a:r>
            <a:endParaRPr sz="900" b="1" i="0">
              <a:solidFill>
                <a:srgbClr val="34D399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897880" y="1097280"/>
            <a:ext cx="5760720" cy="13258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97880" y="1097280"/>
            <a:ext cx="54864" cy="1325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FILM WIDTH (Across web direction)</a:t>
            </a:r>
            <a:endParaRPr sz="900" b="1" i="0">
              <a:solidFill>
                <a:srgbClr val="34D399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504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Film Width  =  2W  +  Center Seal Width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35040" y="1801368"/>
            <a:ext cx="5440680" cy="27432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83794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REPEAT LENGTH (Cylinder circumference direction)</a:t>
            </a:r>
            <a:endParaRPr sz="900" b="1" i="0">
              <a:solidFill>
                <a:srgbClr val="34D399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3504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Repeat  =  H  +  Top Seal  +  Bottom Seal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97880" y="25786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INPUT PARAMETERS</a:t>
            </a:r>
            <a:endParaRPr sz="1000" b="1" i="0">
              <a:solidFill>
                <a:srgbClr val="38BDF8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97880" y="2862072"/>
            <a:ext cx="57607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7880" y="2944368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97880" y="2944368"/>
            <a:ext cx="45720" cy="44805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7608" y="29718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W — Half Width (one side)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07608" y="3163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80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0" y="2944368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240" y="2944368"/>
            <a:ext cx="45720" cy="44805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87967" y="29718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H — Pouch Height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887967" y="3163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200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897880" y="3456432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7880" y="3456432"/>
            <a:ext cx="45720" cy="44805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07608" y="348386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Top Seal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07608" y="36758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10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778240" y="3456432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78240" y="3456432"/>
            <a:ext cx="45720" cy="44805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87967" y="348386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Bottom Seal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887967" y="36758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8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897880" y="3968496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97880" y="3968496"/>
            <a:ext cx="45720" cy="44805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07608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Center Seal Width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007608" y="41879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12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778240" y="3968496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78240" y="3968496"/>
            <a:ext cx="45720" cy="44805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87967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Film Width (total)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887967" y="41879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2×80 + 12 = 172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897880" y="4572000"/>
            <a:ext cx="5760720" cy="502920"/>
          </a:xfrm>
          <a:prstGeom prst="rect">
            <a:avLst/>
          </a:prstGeom>
          <a:solidFill>
            <a:srgbClr val="0C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97880" y="457200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35040" y="462686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4D399"/>
                </a:solidFill>
              </a:rPr>
              <a:t>💡  W entered is HALF the pouch face width. Film wraps around body — both sides are the same printed panel.</a:t>
            </a:r>
            <a:endParaRPr sz="1000" b="0" i="1">
              <a:solidFill>
                <a:srgbClr val="34D399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411480" cy="4114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③</a:t>
            </a:r>
            <a:endParaRPr sz="1600" b="1" i="0">
              <a:solidFill>
                <a:srgbClr val="0F172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B923C"/>
                </a:solidFill>
              </a:rPr>
              <a:t>STANDUP POUCH / ZIPPER POUCH</a:t>
            </a:r>
            <a:endParaRPr sz="2600" b="1" i="0">
              <a:solidFill>
                <a:srgbClr val="FB923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</a:rPr>
              <a:t>Bottom gusset allows pouch to stand upright — premium snacks, pet food, beverages</a:t>
            </a:r>
            <a:endParaRPr sz="1400" b="0" i="1">
              <a:solidFill>
                <a:srgbClr val="CBD5E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87552"/>
            <a:ext cx="1115568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5120640" cy="50292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56815" y="2377440"/>
            <a:ext cx="2212848" cy="2697480"/>
          </a:xfrm>
          <a:prstGeom prst="rect">
            <a:avLst/>
          </a:prstGeom>
          <a:solidFill>
            <a:srgbClr val="1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56815" y="2377440"/>
            <a:ext cx="237744" cy="2286000"/>
          </a:xfrm>
          <a:prstGeom prst="rect">
            <a:avLst/>
          </a:prstGeom>
          <a:solidFill>
            <a:srgbClr val="2D2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19" y="2377440"/>
            <a:ext cx="237744" cy="2286000"/>
          </a:xfrm>
          <a:prstGeom prst="rect">
            <a:avLst/>
          </a:prstGeom>
          <a:solidFill>
            <a:srgbClr val="2D2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4559" y="2377440"/>
            <a:ext cx="1737360" cy="182880"/>
          </a:xfrm>
          <a:prstGeom prst="rect">
            <a:avLst/>
          </a:prstGeom>
          <a:solidFill>
            <a:srgbClr val="4C4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59" y="2560320"/>
            <a:ext cx="1737360" cy="2103120"/>
          </a:xfrm>
          <a:prstGeom prst="rect">
            <a:avLst/>
          </a:prstGeom>
          <a:solidFill>
            <a:srgbClr val="23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56815" y="4663440"/>
            <a:ext cx="2212848" cy="411480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199" y="35204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BODY</a:t>
            </a:r>
            <a:endParaRPr sz="8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97479" y="47365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F172A"/>
                </a:solidFill>
              </a:rPr>
              <a:t>GUSSET</a:t>
            </a:r>
            <a:endParaRPr sz="700" b="1" i="0">
              <a:solidFill>
                <a:srgbClr val="0F172A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4559" y="235915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B923C"/>
                </a:solidFill>
              </a:rPr>
              <a:t>TOP SEAL</a:t>
            </a:r>
            <a:endParaRPr sz="600" b="1" i="0">
              <a:solidFill>
                <a:srgbClr val="FB923C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923C"/>
                </a:solidFill>
              </a:rPr>
              <a:t>← Film Width: W + 2×S →</a:t>
            </a:r>
            <a:endParaRPr sz="900" b="1" i="0">
              <a:solidFill>
                <a:srgbClr val="FB923C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5422392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BD5E1"/>
                </a:solidFill>
              </a:rPr>
              <a:t>↑ Gusset/2 in repeat ↓</a:t>
            </a:r>
            <a:endParaRPr sz="800" b="0" i="1">
              <a:solidFill>
                <a:srgbClr val="CBD5E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1115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923C"/>
                </a:solidFill>
              </a:rPr>
              <a:t>DIAGRAM</a:t>
            </a:r>
            <a:endParaRPr sz="900" b="1" i="0">
              <a:solidFill>
                <a:srgbClr val="FB923C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897880" y="1097280"/>
            <a:ext cx="5760720" cy="13258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97880" y="1097280"/>
            <a:ext cx="54864" cy="1325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923C"/>
                </a:solidFill>
              </a:rPr>
              <a:t>FILM WIDTH (Across web direction)</a:t>
            </a:r>
            <a:endParaRPr sz="900" b="1" i="0">
              <a:solidFill>
                <a:srgbClr val="FB923C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504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Film Width  =  W  +  2 × Side Seal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35040" y="1801368"/>
            <a:ext cx="5440680" cy="27432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83794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923C"/>
                </a:solidFill>
              </a:rPr>
              <a:t>REPEAT LENGTH (Cylinder circumference direction)</a:t>
            </a:r>
            <a:endParaRPr sz="900" b="1" i="0">
              <a:solidFill>
                <a:srgbClr val="FB923C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3504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Repeat  =  H  +  Top Seal  +  Gusset ÷ 2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97880" y="25786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INPUT PARAMETERS</a:t>
            </a:r>
            <a:endParaRPr sz="1000" b="1" i="0">
              <a:solidFill>
                <a:srgbClr val="38BDF8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97880" y="2862072"/>
            <a:ext cx="57607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7880" y="2944368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97880" y="2944368"/>
            <a:ext cx="45720" cy="44805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7608" y="29718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W — Pouch Width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07608" y="3163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150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0" y="2944368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240" y="2944368"/>
            <a:ext cx="45720" cy="44805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87967" y="29718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H — Pouch Height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887967" y="3163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220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897880" y="3456432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7880" y="3456432"/>
            <a:ext cx="45720" cy="44805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07608" y="348386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Top Seal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07608" y="36758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12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778240" y="3456432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78240" y="3456432"/>
            <a:ext cx="45720" cy="44805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87967" y="348386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Side Seal (each)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887967" y="36758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10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897880" y="3968496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97880" y="3968496"/>
            <a:ext cx="45720" cy="44805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07608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Bottom Gusset (full depth)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007608" y="41879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60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778240" y="3968496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78240" y="3968496"/>
            <a:ext cx="45720" cy="44805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87967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Film Width (total)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887967" y="41879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150 + 2×10 = 170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897880" y="4572000"/>
            <a:ext cx="5760720" cy="502920"/>
          </a:xfrm>
          <a:prstGeom prst="rect">
            <a:avLst/>
          </a:prstGeom>
          <a:solidFill>
            <a:srgbClr val="0C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97880" y="457200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35040" y="462686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4D399"/>
                </a:solidFill>
              </a:rPr>
              <a:t>💡  Gusset folds in half on the cylinder — repeat adds Gusset÷2. Zipper pouch same structure + zipper strip near top.</a:t>
            </a:r>
            <a:endParaRPr sz="1000" b="0" i="1">
              <a:solidFill>
                <a:srgbClr val="34D399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411480" cy="411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④</a:t>
            </a:r>
            <a:endParaRPr sz="1600" b="1" i="0">
              <a:solidFill>
                <a:srgbClr val="0F172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78BFA"/>
                </a:solidFill>
              </a:rPr>
              <a:t>BOTH SIDE GUSSET POUCH</a:t>
            </a:r>
            <a:endParaRPr sz="2600" b="1" i="0">
              <a:solidFill>
                <a:srgbClr val="A78BF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</a:rPr>
              <a:t>Gusset on both sides for larger volume — rice bags, flour, heavy products</a:t>
            </a:r>
            <a:endParaRPr sz="1400" b="0" i="1">
              <a:solidFill>
                <a:srgbClr val="CBD5E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87552"/>
            <a:ext cx="1115568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5120640" cy="50292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1951" y="2286000"/>
            <a:ext cx="2322576" cy="2743200"/>
          </a:xfrm>
          <a:prstGeom prst="rect">
            <a:avLst/>
          </a:prstGeom>
          <a:solidFill>
            <a:srgbClr val="1F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01951" y="2286000"/>
            <a:ext cx="384048" cy="2743200"/>
          </a:xfrm>
          <a:prstGeom prst="rect">
            <a:avLst/>
          </a:prstGeom>
          <a:solidFill>
            <a:srgbClr val="5B21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79" y="2286000"/>
            <a:ext cx="384048" cy="2743200"/>
          </a:xfrm>
          <a:prstGeom prst="rect">
            <a:avLst/>
          </a:prstGeom>
          <a:solidFill>
            <a:srgbClr val="5B21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5999" y="2286000"/>
            <a:ext cx="155448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5999" y="4846320"/>
            <a:ext cx="155448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5999" y="2468880"/>
            <a:ext cx="1554480" cy="2377440"/>
          </a:xfrm>
          <a:prstGeom prst="rect">
            <a:avLst/>
          </a:prstGeom>
          <a:solidFill>
            <a:srgbClr val="2E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84831" y="2286000"/>
            <a:ext cx="27432" cy="2743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59" y="2286000"/>
            <a:ext cx="27432" cy="2743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199" y="36118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BODY</a:t>
            </a:r>
            <a:endParaRPr sz="800" b="1" i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78761" y="3438144"/>
            <a:ext cx="42062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0F172A"/>
                </a:solidFill>
              </a:rPr>
              <a:t>GUSSET</a:t>
            </a:r>
            <a:endParaRPr sz="600" b="1" i="0">
              <a:solidFill>
                <a:srgbClr val="0F172A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85999" y="22677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A78BFA"/>
                </a:solidFill>
              </a:rPr>
              <a:t>TOP SEAL</a:t>
            </a:r>
            <a:endParaRPr sz="600" b="1" i="0">
              <a:solidFill>
                <a:srgbClr val="A78BFA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85999" y="483717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A78BFA"/>
                </a:solidFill>
              </a:rPr>
              <a:t>BTM SEAL</a:t>
            </a:r>
            <a:endParaRPr sz="600" b="1" i="0">
              <a:solidFill>
                <a:srgbClr val="A78BFA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51206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← Film Width: W + 2×SideGusset →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1115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DIAGRAM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97880" y="1097280"/>
            <a:ext cx="5760720" cy="13258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97880" y="1097280"/>
            <a:ext cx="54864" cy="13258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FILM WIDTH (Across web direction)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3504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Film Width  =  W  +  2 × Side Gusset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35040" y="1801368"/>
            <a:ext cx="5440680" cy="27432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183794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REPEAT LENGTH (Cylinder circumference direction)</a:t>
            </a:r>
            <a:endParaRPr sz="900" b="1" i="0">
              <a:solidFill>
                <a:srgbClr val="A78BF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3504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Repeat  =  H  +  Top Seal  +  Bottom Seal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97880" y="25786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INPUT PARAMETERS</a:t>
            </a:r>
            <a:endParaRPr sz="1000" b="1" i="0">
              <a:solidFill>
                <a:srgbClr val="38BDF8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897880" y="2862072"/>
            <a:ext cx="57607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97880" y="2944368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97880" y="2944368"/>
            <a:ext cx="45720" cy="44805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07608" y="29718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W — Pouch Width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07608" y="3163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200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778240" y="2944368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944368"/>
            <a:ext cx="45720" cy="44805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87967" y="29718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H — Pouch Height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887967" y="3163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300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897880" y="3456432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7880" y="3456432"/>
            <a:ext cx="45720" cy="44805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07608" y="348386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Top Seal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007608" y="36758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15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778240" y="3456432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0" y="3456432"/>
            <a:ext cx="45720" cy="44805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87967" y="348386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Bottom Seal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887967" y="36758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12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897880" y="3968496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97880" y="3968496"/>
            <a:ext cx="45720" cy="44805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07608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Side Gusset (each side)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007608" y="41879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40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778240" y="3968496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78240" y="3968496"/>
            <a:ext cx="45720" cy="44805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87967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Film Width (total)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887967" y="41879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200 + 2×40 = 280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897880" y="4572000"/>
            <a:ext cx="5760720" cy="502920"/>
          </a:xfrm>
          <a:prstGeom prst="rect">
            <a:avLst/>
          </a:prstGeom>
          <a:solidFill>
            <a:srgbClr val="0C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97880" y="457200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0" y="462686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4D399"/>
                </a:solidFill>
              </a:rPr>
              <a:t>💡  Side gussets expand laterally for volume. Unlike standup — gusset is on sides (width direction), not bottom.</a:t>
            </a:r>
            <a:endParaRPr sz="1000" b="0" i="1">
              <a:solidFill>
                <a:srgbClr val="34D399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WHY DIMENSIONS MATTER</a:t>
            </a:r>
            <a:endParaRPr sz="1300" b="1" i="0">
              <a:solidFill>
                <a:srgbClr val="FBBF2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How Pouch Measurements Drive Printing Costs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502920" y="1170432"/>
            <a:ext cx="11155680" cy="123444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502920" y="1170432"/>
            <a:ext cx="73152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3"/>
            </p:custDataLst>
          </p:nvPr>
        </p:nvSpPr>
        <p:spPr>
          <a:xfrm>
            <a:off x="667512" y="1444752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667512" y="1444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1</a:t>
            </a:r>
            <a:endParaRPr sz="2000" b="1" i="0">
              <a:solidFill>
                <a:srgbClr val="0F172A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298448" y="1280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Film Width</a:t>
            </a:r>
            <a:endParaRPr sz="1600" b="1" i="0">
              <a:solidFill>
                <a:srgbClr val="38BDF8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1298448" y="1673352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Determines how many pouches fit ACROSS the film (AC UPS).
More UPS across = fewer meters of film needed = lower cost per unit.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13" name="Rectangle 12"/>
          <p:cNvSpPr/>
          <p:nvPr>
            <p:custDataLst>
              <p:tags r:id="rId7"/>
            </p:custDataLst>
          </p:nvPr>
        </p:nvSpPr>
        <p:spPr>
          <a:xfrm>
            <a:off x="502920" y="2391283"/>
            <a:ext cx="11155680" cy="123444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8"/>
            </p:custDataLst>
          </p:nvPr>
        </p:nvSpPr>
        <p:spPr>
          <a:xfrm>
            <a:off x="502920" y="2487168"/>
            <a:ext cx="73152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9"/>
            </p:custDataLst>
          </p:nvPr>
        </p:nvSpPr>
        <p:spPr>
          <a:xfrm>
            <a:off x="667512" y="2761487"/>
            <a:ext cx="50292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667512" y="276148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2</a:t>
            </a:r>
            <a:endParaRPr sz="2000" b="1" i="0">
              <a:solidFill>
                <a:srgbClr val="0F172A"/>
              </a:solidFill>
            </a:endParaRP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1298448" y="25968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Repeat Length</a:t>
            </a:r>
            <a:endParaRPr sz="1600" b="1" i="0">
              <a:solidFill>
                <a:srgbClr val="34D399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1298448" y="2990087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Determines how many pouches fit around the cylinder (Repeat UPS).
Correct seals &amp; gusset in repeat = exact cylinder circumference match.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19" name="Rectangle 18"/>
          <p:cNvSpPr/>
          <p:nvPr>
            <p:custDataLst>
              <p:tags r:id="rId13"/>
            </p:custDataLst>
          </p:nvPr>
        </p:nvSpPr>
        <p:spPr>
          <a:xfrm>
            <a:off x="502920" y="3712464"/>
            <a:ext cx="11155680" cy="123444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14"/>
            </p:custDataLst>
          </p:nvPr>
        </p:nvSpPr>
        <p:spPr>
          <a:xfrm>
            <a:off x="502920" y="3803904"/>
            <a:ext cx="73152" cy="12344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5"/>
            </p:custDataLst>
          </p:nvPr>
        </p:nvSpPr>
        <p:spPr>
          <a:xfrm>
            <a:off x="667512" y="4078224"/>
            <a:ext cx="502920" cy="5029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6"/>
            </p:custDataLst>
          </p:nvPr>
        </p:nvSpPr>
        <p:spPr>
          <a:xfrm>
            <a:off x="667512" y="40782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3</a:t>
            </a:r>
            <a:endParaRPr sz="2000" b="1" i="0">
              <a:solidFill>
                <a:srgbClr val="0F172A"/>
              </a:solidFill>
            </a:endParaRPr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1298448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923C"/>
                </a:solidFill>
              </a:rPr>
              <a:t>Seals &amp; Gussets</a:t>
            </a:r>
            <a:endParaRPr sz="1600" b="1" i="0">
              <a:solidFill>
                <a:srgbClr val="FB923C"/>
              </a:solidFill>
            </a:endParaRPr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1298448" y="4306824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Each seal &amp; gusset adds real mm to the film requirement.
Under-estimating = film short, machine stops. Over-estimating = wasted material.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25" name="Rectangle 24"/>
          <p:cNvSpPr/>
          <p:nvPr>
            <p:custDataLst>
              <p:tags r:id="rId19"/>
            </p:custDataLst>
          </p:nvPr>
        </p:nvSpPr>
        <p:spPr>
          <a:xfrm>
            <a:off x="502920" y="5120640"/>
            <a:ext cx="11155680" cy="123444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20"/>
            </p:custDataLst>
          </p:nvPr>
        </p:nvSpPr>
        <p:spPr>
          <a:xfrm>
            <a:off x="502920" y="5120640"/>
            <a:ext cx="73152" cy="1234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21"/>
            </p:custDataLst>
          </p:nvPr>
        </p:nvSpPr>
        <p:spPr>
          <a:xfrm>
            <a:off x="667512" y="539496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22"/>
            </p:custDataLst>
          </p:nvPr>
        </p:nvSpPr>
        <p:spPr>
          <a:xfrm>
            <a:off x="667512" y="5394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4</a:t>
            </a:r>
            <a:endParaRPr sz="2000" b="1" i="0">
              <a:solidFill>
                <a:srgbClr val="0F172A"/>
              </a:solidFill>
            </a:endParaRPr>
          </a:p>
        </p:txBody>
      </p:sp>
      <p:sp>
        <p:nvSpPr>
          <p:cNvPr id="29" name="TextBox 28"/>
          <p:cNvSpPr txBox="1"/>
          <p:nvPr>
            <p:custDataLst>
              <p:tags r:id="rId23"/>
            </p:custDataLst>
          </p:nvPr>
        </p:nvSpPr>
        <p:spPr>
          <a:xfrm>
            <a:off x="1298448" y="52303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Cylinder Selection</a:t>
            </a:r>
            <a:endParaRPr sz="1600" b="1" i="0">
              <a:solidFill>
                <a:srgbClr val="A78BFA"/>
              </a:solidFill>
            </a:endParaRPr>
          </a:p>
        </p:txBody>
      </p:sp>
      <p:sp>
        <p:nvSpPr>
          <p:cNvPr id="30" name="TextBox 29"/>
          <p:cNvSpPr txBox="1"/>
          <p:nvPr>
            <p:custDataLst>
              <p:tags r:id="rId24"/>
            </p:custDataLst>
          </p:nvPr>
        </p:nvSpPr>
        <p:spPr>
          <a:xfrm>
            <a:off x="1298448" y="56235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Cylinder circumference must be exact multiple of effective repeat.
Wrong repeat = cylinder misalignment = 100% print rejection.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1645920"/>
            <a:ext cx="3931920" cy="36576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645920"/>
            <a:ext cx="39319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AJ SHRINK ERP</a:t>
            </a:r>
            <a:endParaRPr sz="2000" b="1" i="0">
              <a:solidFill>
                <a:srgbClr val="38BDF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0" y="246888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Thank You</a:t>
            </a:r>
            <a:endParaRPr sz="3800" b="1" i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46320" y="3246120"/>
            <a:ext cx="24688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3832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</a:rPr>
              <a:t>Flexible Packaging Solutions</a:t>
            </a:r>
            <a:endParaRPr sz="1400" b="0" i="0">
              <a:solidFill>
                <a:srgbClr val="CBD5E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0" y="3840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8BDF8"/>
                </a:solidFill>
              </a:rPr>
              <a:t>5 Pouch Types · Accurate Planning · Zero Waste</a:t>
            </a:r>
            <a:endParaRPr sz="1100" b="0" i="1">
              <a:solidFill>
                <a:srgbClr val="38BDF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0" y="44348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BD5E1"/>
                </a:solidFill>
              </a:rPr>
              <a:t>Powered by AJ Shrink ERP</a:t>
            </a:r>
            <a:endParaRPr sz="1000" b="0" i="1">
              <a:solidFill>
                <a:srgbClr val="CBD5E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411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⑤</a:t>
            </a:r>
            <a:endParaRPr sz="1600" b="1" i="0">
              <a:solidFill>
                <a:srgbClr val="0F172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D4BF"/>
                </a:solidFill>
              </a:rPr>
              <a:t>3D POUCH / FLAT BOTTOM POUCH</a:t>
            </a:r>
            <a:endParaRPr sz="2600" b="1" i="0">
              <a:solidFill>
                <a:srgbClr val="2DD4B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</a:rPr>
              <a:t>Block-bottom design — side gussets + flat bottom gusset, premium coffee &amp; tea</a:t>
            </a:r>
            <a:endParaRPr sz="1400" b="0" i="1">
              <a:solidFill>
                <a:srgbClr val="CBD5E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87552"/>
            <a:ext cx="1115568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5120640" cy="50292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0239" y="2377440"/>
            <a:ext cx="2286000" cy="2514600"/>
          </a:xfrm>
          <a:prstGeom prst="rect">
            <a:avLst/>
          </a:prstGeom>
          <a:solidFill>
            <a:srgbClr val="0A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39" y="2377440"/>
            <a:ext cx="365760" cy="2514600"/>
          </a:xfrm>
          <a:prstGeom prst="rect">
            <a:avLst/>
          </a:prstGeom>
          <a:solidFill>
            <a:srgbClr val="06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79" y="2377440"/>
            <a:ext cx="365760" cy="2514600"/>
          </a:xfrm>
          <a:prstGeom prst="rect">
            <a:avLst/>
          </a:prstGeom>
          <a:solidFill>
            <a:srgbClr val="06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5999" y="2377440"/>
            <a:ext cx="1554480" cy="182880"/>
          </a:xfrm>
          <a:prstGeom prst="rect">
            <a:avLst/>
          </a:prstGeom>
          <a:solidFill>
            <a:srgbClr val="0D7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5999" y="2560320"/>
            <a:ext cx="1554480" cy="2103120"/>
          </a:xfrm>
          <a:prstGeom prst="rect">
            <a:avLst/>
          </a:prstGeom>
          <a:solidFill>
            <a:srgbClr val="0C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0239" y="4663440"/>
            <a:ext cx="2286000" cy="228600"/>
          </a:xfrm>
          <a:prstGeom prst="rect">
            <a:avLst/>
          </a:prstGeom>
          <a:solidFill>
            <a:srgbClr val="0D7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5999" y="4768596"/>
            <a:ext cx="1554480" cy="27432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93976" y="2377440"/>
            <a:ext cx="27432" cy="2514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14215" y="2377440"/>
            <a:ext cx="27432" cy="2514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199" y="35661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BODY</a:t>
            </a:r>
            <a:endParaRPr sz="800" b="1" i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85999" y="46908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0F172A"/>
                </a:solidFill>
              </a:rPr>
              <a:t>BTM GUSSET÷2</a:t>
            </a:r>
            <a:endParaRPr sz="600" b="1" i="0">
              <a:solidFill>
                <a:srgbClr val="0F172A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85999" y="23591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2DD4BF"/>
                </a:solidFill>
              </a:rPr>
              <a:t>TOP SEAL</a:t>
            </a:r>
            <a:endParaRPr sz="600" b="1" i="0">
              <a:solidFill>
                <a:srgbClr val="2DD4B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47671" y="3332988"/>
            <a:ext cx="338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0F172A"/>
                </a:solidFill>
              </a:rPr>
              <a:t>SIDE GUSSET</a:t>
            </a:r>
            <a:endParaRPr sz="500" b="1" i="0">
              <a:solidFill>
                <a:srgbClr val="0F172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4983479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</a:rPr>
              <a:t>← Film Width: W + 2×SideGusset →</a:t>
            </a:r>
            <a:endParaRPr sz="900" b="1" i="0">
              <a:solidFill>
                <a:srgbClr val="2DD4B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5239512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BD5E1"/>
                </a:solidFill>
              </a:rPr>
              <a:t>↑ Btm Gusset÷2 in repeat ↓</a:t>
            </a:r>
            <a:endParaRPr sz="800" b="0" i="1">
              <a:solidFill>
                <a:srgbClr val="CBD5E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1115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</a:rPr>
              <a:t>DIAGRAM</a:t>
            </a:r>
            <a:endParaRPr sz="900" b="1" i="0">
              <a:solidFill>
                <a:srgbClr val="2DD4B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897880" y="1097280"/>
            <a:ext cx="5760720" cy="13258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97880" y="1097280"/>
            <a:ext cx="54864" cy="1325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FILM WIDTH (Across web direction)</a:t>
            </a:r>
            <a:endParaRPr sz="900" b="1" i="0">
              <a:solidFill>
                <a:srgbClr val="2DD4B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3504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Film Width  =  W  +  2 × Side Gusset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035040" y="1801368"/>
            <a:ext cx="5440680" cy="27432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183794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REPEAT LENGTH (Cylinder circumference direction)</a:t>
            </a:r>
            <a:endParaRPr sz="900" b="1" i="0">
              <a:solidFill>
                <a:srgbClr val="2DD4B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3504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Repeat  =  H  +  Top Seal  +  Bottom Gusset ÷ 2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97880" y="25786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INPUT PARAMETERS</a:t>
            </a:r>
            <a:endParaRPr sz="1000" b="1" i="0">
              <a:solidFill>
                <a:srgbClr val="38BDF8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897880" y="2862072"/>
            <a:ext cx="57607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97880" y="2944368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97880" y="2944368"/>
            <a:ext cx="45720" cy="44805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7608" y="29718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W — Pouch Width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7608" y="3163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180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778240" y="2944368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78240" y="2944368"/>
            <a:ext cx="45720" cy="44805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87967" y="29718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H — Pouch Height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887967" y="316382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280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897880" y="3456432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97880" y="3456432"/>
            <a:ext cx="45720" cy="44805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07608" y="348386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Top Seal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07608" y="36758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12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78240" y="3456432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456432"/>
            <a:ext cx="45720" cy="44805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348386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Side Gusset (each)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887967" y="36758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35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897880" y="3968496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97880" y="3968496"/>
            <a:ext cx="45720" cy="44805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07608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Bottom Gusset (full depth)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007608" y="41879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e.g.  80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778240" y="3968496"/>
            <a:ext cx="2743200" cy="448056"/>
          </a:xfrm>
          <a:prstGeom prst="rect">
            <a:avLst/>
          </a:prstGeom>
          <a:solidFill>
            <a:srgbClr val="14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78240" y="3968496"/>
            <a:ext cx="45720" cy="44805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87967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</a:rPr>
              <a:t>Film Width (total)</a:t>
            </a:r>
            <a:endParaRPr sz="900" b="1" i="0">
              <a:solidFill>
                <a:srgbClr val="CBD5E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887967" y="41879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180 + 2×35 = 250 mm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897880" y="4572000"/>
            <a:ext cx="5760720" cy="502920"/>
          </a:xfrm>
          <a:prstGeom prst="rect">
            <a:avLst/>
          </a:prstGeom>
          <a:solidFill>
            <a:srgbClr val="0C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97880" y="457200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0" y="462686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4D399"/>
                </a:solidFill>
              </a:rPr>
              <a:t>💡  Has BOTH side gussets (width) AND bottom gusset (length direction). Bottom gusset/2 adds to repeat. Premium block shape.</a:t>
            </a:r>
            <a:endParaRPr sz="1000" b="0" i="1">
              <a:solidFill>
                <a:srgbClr val="34D399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2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3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4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5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6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7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8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9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10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11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12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13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14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15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16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17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18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19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20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21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22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23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24.xml><?xml version="1.0" encoding="utf-8"?>
<p:tagLst xmlns:p="http://schemas.openxmlformats.org/presentationml/2006/main">
  <p:tag name="KSO_WM_DIAGRAM_VIRTUALLY_FRAME" val="{&quot;height&quot;:115.92000000000003,&quot;left&quot;:464.4,&quot;top&quot;:231.84,&quot;width&quot;:442.8}"/>
</p:tagLst>
</file>

<file path=ppt/tags/tag25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26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27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28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29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30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31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32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33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34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35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36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37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38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39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40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41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42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43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44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45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46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47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ags/tag48.xml><?xml version="1.0" encoding="utf-8"?>
<p:tagLst xmlns:p="http://schemas.openxmlformats.org/presentationml/2006/main">
  <p:tag name="KSO_WM_DIAGRAM_VIRTUALLY_FRAME" val="{&quot;height&quot;:408.24,&quot;left&quot;:39.6,&quot;top&quot;:92.16,&quot;width&quot;:87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4552</Words>
  <Application>WPS Presentation</Application>
  <PresentationFormat>On-screen Show (4:3)</PresentationFormat>
  <Paragraphs>388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hp</cp:lastModifiedBy>
  <cp:revision>2</cp:revision>
  <dcterms:created xsi:type="dcterms:W3CDTF">2013-01-27T09:14:00Z</dcterms:created>
  <dcterms:modified xsi:type="dcterms:W3CDTF">2026-04-09T07:54:18Z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D2AF102EE08E403A80A2F5CDB2568427_12</vt:lpwstr>
  </property>
  <property fmtid="{D5CDD505-2E9C-101B-9397-08002B2CF9AE}" pid="3" name="KSOProductBuildVer">
    <vt:lpwstr>1033-12.2.0.23155</vt:lpwstr>
  </property>
</Properties>
</file>