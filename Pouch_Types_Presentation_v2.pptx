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08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"/>
            <a:ext cx="237744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237744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>
                <a:solidFill>
                  <a:srgbClr val="0B1426"/>
                </a:solidFill>
              </a:rPr>
              <a:t>Indas Analytics PVT.LTD.</a:t>
            </a:r>
            <a:endParaRPr lang="en-US" sz="1200" b="1" i="0">
              <a:solidFill>
                <a:srgbClr val="0B1426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0" y="11430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94A3B8"/>
                </a:solidFill>
              </a:rPr>
              <a:t>Flexible Packaging</a:t>
            </a:r>
            <a:endParaRPr sz="3600" b="0" i="0">
              <a:solidFill>
                <a:srgbClr val="94A3B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Pouch Types &amp; Their Applications</a:t>
            </a:r>
            <a:endParaRPr sz="50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27889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38BDF8"/>
                </a:solidFill>
              </a:rPr>
              <a:t>Where they are used  ·  What goes inside  ·  Film &amp; Cylinder Calculations</a:t>
            </a:r>
            <a:endParaRPr sz="1600" b="0" i="1">
              <a:solidFill>
                <a:srgbClr val="38BDF8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89120" y="3383280"/>
            <a:ext cx="3383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3749039"/>
            <a:ext cx="2029968" cy="4754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49039"/>
            <a:ext cx="2029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6"/>
                </a:solidFill>
              </a:rPr>
              <a:t>3 Side Seal</a:t>
            </a:r>
            <a:endParaRPr sz="1000" b="1" i="0">
              <a:solidFill>
                <a:srgbClr val="0B1426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98064" y="3749039"/>
            <a:ext cx="2029968" cy="4754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8064" y="3749039"/>
            <a:ext cx="2029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6"/>
                </a:solidFill>
              </a:rPr>
              <a:t>Center Seal</a:t>
            </a:r>
            <a:endParaRPr sz="1000" b="1" i="0">
              <a:solidFill>
                <a:srgbClr val="0B1426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1768" y="3749039"/>
            <a:ext cx="2029968" cy="47548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3749039"/>
            <a:ext cx="2029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6"/>
                </a:solidFill>
              </a:rPr>
              <a:t>Standup / Zipper</a:t>
            </a:r>
            <a:endParaRPr sz="1000" b="1" i="0">
              <a:solidFill>
                <a:srgbClr val="0B1426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205472" y="3749039"/>
            <a:ext cx="2029968" cy="4754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472" y="3749039"/>
            <a:ext cx="2029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6"/>
                </a:solidFill>
              </a:rPr>
              <a:t>Both Gusset</a:t>
            </a:r>
            <a:endParaRPr sz="1000" b="1" i="0">
              <a:solidFill>
                <a:srgbClr val="0B1426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409176" y="3749039"/>
            <a:ext cx="2029968" cy="47548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9176" y="3749039"/>
            <a:ext cx="2029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6"/>
                </a:solidFill>
              </a:rPr>
              <a:t>3D Flat Bottom</a:t>
            </a:r>
            <a:endParaRPr sz="1000" b="1" i="0">
              <a:solidFill>
                <a:srgbClr val="0B1426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0" y="6355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</a:rPr>
              <a:t>Client Presentation  —  Confidential</a:t>
            </a:r>
            <a:endParaRPr sz="1000" b="0" i="1">
              <a:solidFill>
                <a:srgbClr val="94A3B8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179222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64592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6"/>
                </a:solidFill>
              </a:rPr>
              <a:t>INTRODUCTION</a:t>
            </a:r>
            <a:endParaRPr sz="1000" b="1" i="0">
              <a:solidFill>
                <a:srgbClr val="0B142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BBF24"/>
                </a:solidFill>
              </a:rPr>
              <a:t>Why Choosing the Right Pouch Matters</a:t>
            </a:r>
            <a:endParaRPr sz="3000" b="1" i="0">
              <a:solidFill>
                <a:srgbClr val="FBBF24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The pouch type directly controls print area, material cost, and cylinder size</a:t>
            </a:r>
            <a:endParaRPr sz="1500" b="0" i="0">
              <a:solidFill>
                <a:srgbClr val="94A3B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11274552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1"/>
            </p:custDataLst>
          </p:nvPr>
        </p:nvSpPr>
        <p:spPr>
          <a:xfrm>
            <a:off x="457200" y="1645920"/>
            <a:ext cx="5669280" cy="217627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2"/>
            </p:custDataLst>
          </p:nvPr>
        </p:nvSpPr>
        <p:spPr>
          <a:xfrm>
            <a:off x="457200" y="1645920"/>
            <a:ext cx="64008" cy="21762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3"/>
            </p:custDataLst>
          </p:nvPr>
        </p:nvSpPr>
        <p:spPr>
          <a:xfrm>
            <a:off x="621792" y="1700784"/>
            <a:ext cx="411480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621792" y="1700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426"/>
                </a:solidFill>
              </a:rPr>
              <a:t>1</a:t>
            </a:r>
            <a:endParaRPr sz="1800" b="1" i="0">
              <a:solidFill>
                <a:srgbClr val="0B1426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1133856" y="17373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Film Width</a:t>
            </a:r>
            <a:endParaRPr sz="1400" b="1" i="0">
              <a:solidFill>
                <a:srgbClr val="38BDF8"/>
              </a:solidFill>
            </a:endParaRPr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621792" y="219456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Every pouch type adds SEALS or GUSSETS to the base width.
This determines how many pouches fit ACROSS the film roll (AC UPS).
More UPS across = lower cost per unit.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15" name="Rectangle 14"/>
          <p:cNvSpPr/>
          <p:nvPr>
            <p:custDataLst>
              <p:tags r:id="rId7"/>
            </p:custDataLst>
          </p:nvPr>
        </p:nvSpPr>
        <p:spPr>
          <a:xfrm>
            <a:off x="6327648" y="1645920"/>
            <a:ext cx="5669280" cy="217627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8"/>
            </p:custDataLst>
          </p:nvPr>
        </p:nvSpPr>
        <p:spPr>
          <a:xfrm>
            <a:off x="6327648" y="1645920"/>
            <a:ext cx="64008" cy="21762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9"/>
            </p:custDataLst>
          </p:nvPr>
        </p:nvSpPr>
        <p:spPr>
          <a:xfrm>
            <a:off x="6492240" y="1700784"/>
            <a:ext cx="41148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6492240" y="1700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426"/>
                </a:solidFill>
              </a:rPr>
              <a:t>2</a:t>
            </a:r>
            <a:endParaRPr sz="1800" b="1" i="0">
              <a:solidFill>
                <a:srgbClr val="0B1426"/>
              </a:solidFill>
            </a:endParaRPr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7004304" y="17373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Cylinder Circumference</a:t>
            </a:r>
            <a:endParaRPr sz="1400" b="1" i="0">
              <a:solidFill>
                <a:srgbClr val="34D399"/>
              </a:solidFill>
            </a:endParaRP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6492240" y="219456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Seals + gussets added to height decide the exact cylinder circumference.
Wrong measurement = cylinder won't divide evenly = print misalignment.
Every mm counts for a ₹50,000+ cylinder order.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21" name="Rectangle 20"/>
          <p:cNvSpPr/>
          <p:nvPr>
            <p:custDataLst>
              <p:tags r:id="rId13"/>
            </p:custDataLst>
          </p:nvPr>
        </p:nvSpPr>
        <p:spPr>
          <a:xfrm>
            <a:off x="457200" y="3977639"/>
            <a:ext cx="5669280" cy="217627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>
            <p:custDataLst>
              <p:tags r:id="rId14"/>
            </p:custDataLst>
          </p:nvPr>
        </p:nvSpPr>
        <p:spPr>
          <a:xfrm>
            <a:off x="457200" y="3977639"/>
            <a:ext cx="64008" cy="217627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>
            <p:custDataLst>
              <p:tags r:id="rId15"/>
            </p:custDataLst>
          </p:nvPr>
        </p:nvSpPr>
        <p:spPr>
          <a:xfrm>
            <a:off x="621792" y="4032503"/>
            <a:ext cx="411480" cy="4114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16"/>
            </p:custDataLst>
          </p:nvPr>
        </p:nvSpPr>
        <p:spPr>
          <a:xfrm>
            <a:off x="621792" y="4032503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426"/>
                </a:solidFill>
              </a:rPr>
              <a:t>3</a:t>
            </a:r>
            <a:endParaRPr sz="1800" b="1" i="0">
              <a:solidFill>
                <a:srgbClr val="0B1426"/>
              </a:solidFill>
            </a:endParaRPr>
          </a:p>
        </p:txBody>
      </p:sp>
      <p:sp>
        <p:nvSpPr>
          <p:cNvPr id="25" name="TextBox 24"/>
          <p:cNvSpPr txBox="1"/>
          <p:nvPr>
            <p:custDataLst>
              <p:tags r:id="rId17"/>
            </p:custDataLst>
          </p:nvPr>
        </p:nvSpPr>
        <p:spPr>
          <a:xfrm>
            <a:off x="1133856" y="406907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923C"/>
                </a:solidFill>
              </a:rPr>
              <a:t>Material Waste</a:t>
            </a:r>
            <a:endParaRPr sz="1400" b="1" i="0">
              <a:solidFill>
                <a:srgbClr val="FB923C"/>
              </a:solidFill>
            </a:endParaRPr>
          </a:p>
        </p:txBody>
      </p:sp>
      <p:sp>
        <p:nvSpPr>
          <p:cNvPr id="26" name="TextBox 25"/>
          <p:cNvSpPr txBox="1"/>
          <p:nvPr>
            <p:custDataLst>
              <p:tags r:id="rId18"/>
            </p:custDataLst>
          </p:nvPr>
        </p:nvSpPr>
        <p:spPr>
          <a:xfrm>
            <a:off x="621792" y="4526279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Incorrect seal allowance wastes film with every meter printed.
1mm error × 5,00,000 pouches = 500 meters of wasted film.
Proper planning eliminates dead margin and side waste.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27" name="Rectangle 26"/>
          <p:cNvSpPr/>
          <p:nvPr>
            <p:custDataLst>
              <p:tags r:id="rId19"/>
            </p:custDataLst>
          </p:nvPr>
        </p:nvSpPr>
        <p:spPr>
          <a:xfrm>
            <a:off x="6327648" y="3977639"/>
            <a:ext cx="5669280" cy="217627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>
            <p:custDataLst>
              <p:tags r:id="rId20"/>
            </p:custDataLst>
          </p:nvPr>
        </p:nvSpPr>
        <p:spPr>
          <a:xfrm>
            <a:off x="6327648" y="3977639"/>
            <a:ext cx="64008" cy="21762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>
            <p:custDataLst>
              <p:tags r:id="rId21"/>
            </p:custDataLst>
          </p:nvPr>
        </p:nvSpPr>
        <p:spPr>
          <a:xfrm>
            <a:off x="6492240" y="4032503"/>
            <a:ext cx="411480" cy="411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>
            <p:custDataLst>
              <p:tags r:id="rId22"/>
            </p:custDataLst>
          </p:nvPr>
        </p:nvSpPr>
        <p:spPr>
          <a:xfrm>
            <a:off x="6492240" y="4032503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426"/>
                </a:solidFill>
              </a:rPr>
              <a:t>4</a:t>
            </a:r>
            <a:endParaRPr sz="1800" b="1" i="0">
              <a:solidFill>
                <a:srgbClr val="0B1426"/>
              </a:solidFill>
            </a:endParaRPr>
          </a:p>
        </p:txBody>
      </p:sp>
      <p:sp>
        <p:nvSpPr>
          <p:cNvPr id="31" name="TextBox 30"/>
          <p:cNvSpPr txBox="1"/>
          <p:nvPr>
            <p:custDataLst>
              <p:tags r:id="rId23"/>
            </p:custDataLst>
          </p:nvPr>
        </p:nvSpPr>
        <p:spPr>
          <a:xfrm>
            <a:off x="7004304" y="406907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Structure for the Product</a:t>
            </a:r>
            <a:endParaRPr sz="1400" b="1" i="0">
              <a:solidFill>
                <a:srgbClr val="A78BFA"/>
              </a:solidFill>
            </a:endParaRPr>
          </a:p>
        </p:txBody>
      </p:sp>
      <p:sp>
        <p:nvSpPr>
          <p:cNvPr id="32" name="TextBox 31"/>
          <p:cNvSpPr txBox="1"/>
          <p:nvPr>
            <p:custDataLst>
              <p:tags r:id="rId24"/>
            </p:custDataLst>
          </p:nvPr>
        </p:nvSpPr>
        <p:spPr>
          <a:xfrm>
            <a:off x="6492240" y="4526279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Heavier products need gussets. Liquids need tight center seals.
Standing products need standup gussets. Premium products need 3D shape.
Wrong structure = pouch fails on the filling line.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155680" y="6565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2 / 14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1316736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645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6"/>
                </a:solidFill>
              </a:rPr>
              <a:t>OVERVIEW</a:t>
            </a:r>
            <a:endParaRPr sz="1000" b="1" i="0">
              <a:solidFill>
                <a:srgbClr val="0B142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All 5 Pouch Types at a Glance</a:t>
            </a:r>
            <a:endParaRPr sz="3000" b="1" i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Film Width formula  ·  Repeat Length formula  ·  Typical products</a:t>
            </a:r>
            <a:endParaRPr sz="1500" b="0" i="0">
              <a:solidFill>
                <a:srgbClr val="94A3B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112745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1274552" cy="384048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65506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#</a:t>
            </a:r>
            <a:endParaRPr sz="900" b="1" i="0">
              <a:solidFill>
                <a:srgbClr val="38BDF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704" y="16550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Pouch Type</a:t>
            </a:r>
            <a:endParaRPr sz="900" b="1" i="0">
              <a:solidFill>
                <a:srgbClr val="38BDF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72384" y="16550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Film Width</a:t>
            </a:r>
            <a:endParaRPr sz="900" b="1" i="0">
              <a:solidFill>
                <a:srgbClr val="38BDF8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32703" y="16550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Repeat Length</a:t>
            </a:r>
            <a:endParaRPr sz="900" b="1" i="0">
              <a:solidFill>
                <a:srgbClr val="38BDF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93024" y="16550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Typical Products</a:t>
            </a:r>
            <a:endParaRPr sz="900" b="1" i="0">
              <a:solidFill>
                <a:srgbClr val="38BDF8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2039112"/>
            <a:ext cx="11274552" cy="86868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039112"/>
            <a:ext cx="64008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22199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①</a:t>
            </a:r>
            <a:endParaRPr sz="1800" b="1" i="0">
              <a:solidFill>
                <a:srgbClr val="38BDF8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5840" y="2093976"/>
            <a:ext cx="1828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 Side Seal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17520" y="2093976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W + 2×Side Seal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77840" y="2093976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H + Top + Bottom Seal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38160" y="2093976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Spices, sachets, namkeen, seeds, sugar, flour</a:t>
            </a:r>
            <a:endParaRPr sz="900" b="0" i="1">
              <a:solidFill>
                <a:srgbClr val="94A3B8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2971800"/>
            <a:ext cx="11274552" cy="86868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971800"/>
            <a:ext cx="64008" cy="868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1546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4D399"/>
                </a:solidFill>
              </a:rPr>
              <a:t>②</a:t>
            </a:r>
            <a:endParaRPr sz="1800" b="1" i="0">
              <a:solidFill>
                <a:srgbClr val="34D399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5840" y="3026664"/>
            <a:ext cx="1828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Center Seal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17520" y="3026664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2W + Center Seal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77840" y="3026664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H + Top + Bottom Seal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38160" y="3026664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Milk pouches, oil pouches, liquid sachets, shampoo</a:t>
            </a:r>
            <a:endParaRPr sz="900" b="0" i="1">
              <a:solidFill>
                <a:srgbClr val="94A3B8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7200" y="3904487"/>
            <a:ext cx="11274552" cy="86868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904487"/>
            <a:ext cx="64008" cy="8686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08736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B923C"/>
                </a:solidFill>
              </a:rPr>
              <a:t>③</a:t>
            </a:r>
            <a:endParaRPr sz="1800" b="1" i="0">
              <a:solidFill>
                <a:srgbClr val="FB923C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5840" y="3959351"/>
            <a:ext cx="1828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Standup / Zipper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17520" y="3959351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W + 2×Side Seal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577840" y="3959351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H + Top + Gusset÷2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38160" y="3959351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Dry fruits, pet food, coffee, protein powder, snacks</a:t>
            </a:r>
            <a:endParaRPr sz="900" b="0" i="1">
              <a:solidFill>
                <a:srgbClr val="94A3B8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57200" y="4837176"/>
            <a:ext cx="11274552" cy="86868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837176"/>
            <a:ext cx="64008" cy="868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502005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78BFA"/>
                </a:solidFill>
              </a:rPr>
              <a:t>④</a:t>
            </a:r>
            <a:endParaRPr sz="1800" b="1" i="0">
              <a:solidFill>
                <a:srgbClr val="A78BFA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05840" y="4892040"/>
            <a:ext cx="1828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Both Side Gusset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17520" y="4892040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W + 2×Side Gusset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77840" y="4892040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H + Top + Bottom Seal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138160" y="4892040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Rice, atta, sugar (5kg+), cement additives, animal feed</a:t>
            </a:r>
            <a:endParaRPr sz="900" b="0" i="1">
              <a:solidFill>
                <a:srgbClr val="94A3B8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00" y="5769864"/>
            <a:ext cx="11274552" cy="86868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769864"/>
            <a:ext cx="64008" cy="8686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595274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DD4BF"/>
                </a:solidFill>
              </a:rPr>
              <a:t>⑤</a:t>
            </a:r>
            <a:endParaRPr sz="1800" b="1" i="0">
              <a:solidFill>
                <a:srgbClr val="2DD4BF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05840" y="5824728"/>
            <a:ext cx="1828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3D / Flat Bottom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017520" y="5824728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W + 2×Side Gusset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77840" y="5824728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H + Top + Btm Gusset÷2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138160" y="5824728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Premium coffee, tea, cosmetics, organic products</a:t>
            </a:r>
            <a:endParaRPr sz="900" b="0" i="1">
              <a:solidFill>
                <a:srgbClr val="94A3B8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155680" y="6565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3 / 14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"/>
            <a:ext cx="438912" cy="43891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1426"/>
                </a:solidFill>
              </a:rPr>
              <a:t>①</a:t>
            </a:r>
            <a:endParaRPr sz="2000" b="1" i="0">
              <a:solidFill>
                <a:srgbClr val="0B142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3 SIDE SEAL POUCH</a:t>
            </a:r>
            <a:endParaRPr sz="2600" b="1" i="0">
              <a:solidFill>
                <a:srgbClr val="38BDF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7552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Simplest pouch — three sides heat-sealed, one side fold</a:t>
            </a:r>
            <a:endParaRPr sz="1200" b="0" i="1">
              <a:solidFill>
                <a:srgbClr val="94A3B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932688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24128"/>
            <a:ext cx="4937760" cy="283464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20240" y="1333195"/>
            <a:ext cx="2011680" cy="2267712"/>
          </a:xfrm>
          <a:prstGeom prst="rect">
            <a:avLst/>
          </a:prstGeom>
          <a:solidFill>
            <a:srgbClr val="0C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1333195"/>
            <a:ext cx="228600" cy="2267712"/>
          </a:xfrm>
          <a:prstGeom prst="rect">
            <a:avLst/>
          </a:prstGeom>
          <a:solidFill>
            <a:srgbClr val="14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03320" y="1333195"/>
            <a:ext cx="228600" cy="2267712"/>
          </a:xfrm>
          <a:prstGeom prst="rect">
            <a:avLst/>
          </a:prstGeom>
          <a:solidFill>
            <a:srgbClr val="14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48840" y="1333195"/>
            <a:ext cx="1554480" cy="182880"/>
          </a:xfrm>
          <a:prstGeom prst="rect">
            <a:avLst/>
          </a:prstGeom>
          <a:solidFill>
            <a:srgbClr val="14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48840" y="3436315"/>
            <a:ext cx="1554480" cy="164592"/>
          </a:xfrm>
          <a:prstGeom prst="rect">
            <a:avLst/>
          </a:prstGeom>
          <a:solidFill>
            <a:srgbClr val="14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48840" y="1516075"/>
            <a:ext cx="1554480" cy="1920240"/>
          </a:xfrm>
          <a:prstGeom prst="rect">
            <a:avLst/>
          </a:prstGeom>
          <a:solidFill>
            <a:srgbClr val="173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275027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BODY</a:t>
            </a:r>
            <a:endParaRPr sz="8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83664" y="2194925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38BDF8"/>
                </a:solidFill>
              </a:rPr>
              <a:t>SIDE SEAL</a:t>
            </a:r>
            <a:endParaRPr sz="500" b="0" i="0">
              <a:solidFill>
                <a:srgbClr val="38BDF8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48840" y="1314907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8BDF8"/>
                </a:solidFill>
              </a:rPr>
              <a:t>TOP SEAL</a:t>
            </a:r>
            <a:endParaRPr sz="600" b="0" i="0">
              <a:solidFill>
                <a:srgbClr val="38BDF8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48840" y="3427171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8BDF8"/>
                </a:solidFill>
              </a:rPr>
              <a:t>BTM SEAL</a:t>
            </a:r>
            <a:endParaRPr sz="600" b="0" i="0">
              <a:solidFill>
                <a:srgbClr val="38BDF8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148840" y="1333195"/>
            <a:ext cx="27432" cy="2267712"/>
          </a:xfrm>
          <a:prstGeom prst="rect">
            <a:avLst/>
          </a:prstGeom>
          <a:solidFill>
            <a:srgbClr val="0E6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75887" y="1333195"/>
            <a:ext cx="27432" cy="2267712"/>
          </a:xfrm>
          <a:prstGeom prst="rect">
            <a:avLst/>
          </a:prstGeom>
          <a:solidFill>
            <a:srgbClr val="0E6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7405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8BDF8"/>
                </a:solidFill>
              </a:rPr>
              <a:t>← W+2S = Film Width →</a:t>
            </a:r>
            <a:endParaRPr sz="800" b="1" i="0">
              <a:solidFill>
                <a:srgbClr val="38BDF8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3893515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3 SIDES SEALED: Left + Right + Bottom</a:t>
            </a:r>
            <a:endParaRPr sz="800" b="0" i="1">
              <a:solidFill>
                <a:srgbClr val="94A3B8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3913632"/>
            <a:ext cx="4937760" cy="1261872"/>
          </a:xfrm>
          <a:prstGeom prst="rect">
            <a:avLst/>
          </a:prstGeom>
          <a:solidFill>
            <a:srgbClr val="1E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913632"/>
            <a:ext cx="64008" cy="12618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95020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FILM WIDTH (across web):</a:t>
            </a:r>
            <a:endParaRPr sz="800" b="1" i="0">
              <a:solidFill>
                <a:srgbClr val="38BDF8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4360" y="41879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Film Width  =  W  +  (2 × Side Seal)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94360" y="4553712"/>
            <a:ext cx="4736592" cy="27432"/>
          </a:xfrm>
          <a:prstGeom prst="rect">
            <a:avLst/>
          </a:prstGeom>
          <a:solidFill>
            <a:srgbClr val="253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59028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REPEAT LENGTH (cyl. circumference):</a:t>
            </a:r>
            <a:endParaRPr sz="800" b="1" i="0">
              <a:solidFill>
                <a:srgbClr val="38BDF8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48280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Repeat  =  H  +  Top Seal  +  Bottom Seal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5212080"/>
            <a:ext cx="4937760" cy="502920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212080"/>
            <a:ext cx="64008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24865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Example: W=130, H=200, Top=10, Btm=8, Side=10 → Film=150mm, Repeat=218mm</a:t>
            </a:r>
            <a:endParaRPr sz="1000" b="1" i="0">
              <a:solidFill>
                <a:srgbClr val="34D399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623560" y="1024128"/>
            <a:ext cx="6108192" cy="169164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23560" y="1024128"/>
            <a:ext cx="64008" cy="1691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88152" y="1060704"/>
            <a:ext cx="5852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WHERE IS IT USED?</a:t>
            </a:r>
            <a:endParaRPr sz="900" b="1" i="0">
              <a:solidFill>
                <a:srgbClr val="38BDF8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88152" y="1353312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Small retail pouches — 10g to 500g range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88152" y="1645920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Single-serve sachets — sugar, salt, spice, sauce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88152" y="1938528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Pharma — tablet strips, powder sachets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788152" y="2231136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Agricultural — seed packets, fertilizer sachets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788152" y="2523744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Industrial — adhesive sachets, lubricant pouches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623560" y="2779776"/>
            <a:ext cx="6108192" cy="1536192"/>
          </a:xfrm>
          <a:prstGeom prst="rect">
            <a:avLst/>
          </a:prstGeom>
          <a:solidFill>
            <a:srgbClr val="1E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23560" y="2779776"/>
            <a:ext cx="64008" cy="15361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88152" y="2816352"/>
            <a:ext cx="5852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WHAT PRODUCTS GO INSIDE?</a:t>
            </a:r>
            <a:endParaRPr sz="900" b="1" i="0">
              <a:solidFill>
                <a:srgbClr val="FBBF24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788152" y="310896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Namkeen / chips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788152" y="3383279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Spices (haldi, mirchi)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788152" y="365760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Salt &amp; sugar sachets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88152" y="393192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Tea &amp; coffee sachets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788152" y="420624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Cement additives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05088" y="310896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Seeds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705088" y="3383279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Sauce / ketchup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705088" y="365760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Tablet pouches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705088" y="393192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Detergent powder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705088" y="420624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Seeds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623560" y="4370832"/>
            <a:ext cx="6108192" cy="137160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23560" y="4370832"/>
            <a:ext cx="64008" cy="1371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88152" y="4407408"/>
            <a:ext cx="5852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TYPICAL FILM STRUCTURES USED</a:t>
            </a:r>
            <a:endParaRPr sz="900" b="1" i="0">
              <a:solidFill>
                <a:srgbClr val="A78BFA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788152" y="4700016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1.  BOPP + CPP  (most common for dry products)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788152" y="4974336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2.  PET + PE  (higher barrier, good for moisture)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788152" y="5248655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3.  PET + AL Foil + PE  (maximum barrier — pharma, spices)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788152" y="5522975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4.  BOPP + MET BOPP  (shiny look — premium snacks)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623560" y="5797296"/>
            <a:ext cx="6108192" cy="566928"/>
          </a:xfrm>
          <a:prstGeom prst="rect">
            <a:avLst/>
          </a:prstGeom>
          <a:solidFill>
            <a:srgbClr val="0C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23560" y="5797296"/>
            <a:ext cx="6400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88152" y="5833872"/>
            <a:ext cx="585215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4D399"/>
                </a:solidFill>
              </a:rPr>
              <a:t>💡  Most economical pouch — highest AC UPS possible. Side seal width 8–12mm typical. Use for anything dry and non-premium.</a:t>
            </a:r>
            <a:endParaRPr sz="900" b="0" i="1">
              <a:solidFill>
                <a:srgbClr val="34D399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1155680" y="6565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4 / 14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"/>
            <a:ext cx="438912" cy="43891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1426"/>
                </a:solidFill>
              </a:rPr>
              <a:t>②</a:t>
            </a:r>
            <a:endParaRPr sz="2000" b="1" i="0">
              <a:solidFill>
                <a:srgbClr val="0B142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4D399"/>
                </a:solidFill>
              </a:rPr>
              <a:t>CENTER SEAL POUCH</a:t>
            </a:r>
            <a:endParaRPr sz="2600" b="1" i="0">
              <a:solidFill>
                <a:srgbClr val="34D39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7552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Film wraps around the product — sealed at the back center</a:t>
            </a:r>
            <a:endParaRPr sz="1200" b="0" i="1">
              <a:solidFill>
                <a:srgbClr val="94A3B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932688"/>
            <a:ext cx="11274552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24128"/>
            <a:ext cx="4937760" cy="283464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1333195"/>
            <a:ext cx="822960" cy="2267712"/>
          </a:xfrm>
          <a:prstGeom prst="rect">
            <a:avLst/>
          </a:prstGeom>
          <a:solidFill>
            <a:srgbClr val="181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1333195"/>
            <a:ext cx="822960" cy="2267712"/>
          </a:xfrm>
          <a:prstGeom prst="rect">
            <a:avLst/>
          </a:prstGeom>
          <a:solidFill>
            <a:srgbClr val="181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1333195"/>
            <a:ext cx="182880" cy="2267712"/>
          </a:xfrm>
          <a:prstGeom prst="rect">
            <a:avLst/>
          </a:prstGeom>
          <a:solidFill>
            <a:srgbClr val="441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0" y="1333195"/>
            <a:ext cx="1828800" cy="182880"/>
          </a:xfrm>
          <a:prstGeom prst="rect">
            <a:avLst/>
          </a:prstGeom>
          <a:solidFill>
            <a:srgbClr val="351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3436315"/>
            <a:ext cx="1828800" cy="164592"/>
          </a:xfrm>
          <a:prstGeom prst="rect">
            <a:avLst/>
          </a:prstGeom>
          <a:solidFill>
            <a:srgbClr val="351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4404" y="2275027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  <a:endParaRPr sz="1000" b="1" i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80867" y="2275027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</a:t>
            </a:r>
            <a:endParaRPr sz="10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34640" y="2126894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34D399"/>
                </a:solidFill>
              </a:rPr>
              <a:t>CENTER
SEAL</a:t>
            </a:r>
            <a:endParaRPr sz="500" b="0" i="0">
              <a:solidFill>
                <a:srgbClr val="34D399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11680" y="1314907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4D399"/>
                </a:solidFill>
              </a:rPr>
              <a:t>TOP SEAL</a:t>
            </a:r>
            <a:endParaRPr sz="600" b="0" i="0">
              <a:solidFill>
                <a:srgbClr val="34D399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11680" y="3427171"/>
            <a:ext cx="182880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4D399"/>
                </a:solidFill>
              </a:rPr>
              <a:t>BTM SEAL</a:t>
            </a:r>
            <a:endParaRPr sz="600" b="0" i="0">
              <a:solidFill>
                <a:srgbClr val="34D399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367405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4D399"/>
                </a:solidFill>
              </a:rPr>
              <a:t>← 2W + Center Seal = Film Width →</a:t>
            </a:r>
            <a:endParaRPr sz="800" b="1" i="0">
              <a:solidFill>
                <a:srgbClr val="34D399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3893515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Film wraps around — A &amp; B are same printed panel</a:t>
            </a:r>
            <a:endParaRPr sz="800" b="0" i="1">
              <a:solidFill>
                <a:srgbClr val="94A3B8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3913632"/>
            <a:ext cx="4937760" cy="1261872"/>
          </a:xfrm>
          <a:prstGeom prst="rect">
            <a:avLst/>
          </a:prstGeom>
          <a:solidFill>
            <a:srgbClr val="1E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13632"/>
            <a:ext cx="64008" cy="12618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95020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FILM WIDTH (across web):</a:t>
            </a:r>
            <a:endParaRPr sz="800" b="1" i="0">
              <a:solidFill>
                <a:srgbClr val="34D399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Film Width  =  (W × 2)  +  Center Seal Width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94360" y="4553712"/>
            <a:ext cx="4736592" cy="27432"/>
          </a:xfrm>
          <a:prstGeom prst="rect">
            <a:avLst/>
          </a:prstGeom>
          <a:solidFill>
            <a:srgbClr val="253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59028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REPEAT LENGTH (cyl. circumference):</a:t>
            </a:r>
            <a:endParaRPr sz="800" b="1" i="0">
              <a:solidFill>
                <a:srgbClr val="34D399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4360" y="48280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Repeat  =  H  +  Top Seal  +  Bottom Seal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7200" y="5212080"/>
            <a:ext cx="4937760" cy="502920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212080"/>
            <a:ext cx="64008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24865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Example: W=80 (half), H=200, Top=10, Btm=8, Seal=12 → Film=172mm, Repeat=218mm</a:t>
            </a:r>
            <a:endParaRPr sz="1000" b="1" i="0">
              <a:solidFill>
                <a:srgbClr val="34D399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623560" y="1024128"/>
            <a:ext cx="6108192" cy="169164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23560" y="1024128"/>
            <a:ext cx="64008" cy="16916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88152" y="1060704"/>
            <a:ext cx="5852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WHERE IS IT USED?</a:t>
            </a:r>
            <a:endParaRPr sz="900" b="1" i="0">
              <a:solidFill>
                <a:srgbClr val="34D399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88152" y="1353312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Liquid pouches — milk, oil, drinking water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788152" y="1645920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Flow-wrap / pillow pack on HFFS machines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88152" y="1938528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Loose items — candy, biscuits, small hardware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88152" y="2231136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Bulk packaging — continuous film roll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88152" y="2523744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Instant noodles, bread — bakery flow wrap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623560" y="2779776"/>
            <a:ext cx="6108192" cy="1536192"/>
          </a:xfrm>
          <a:prstGeom prst="rect">
            <a:avLst/>
          </a:prstGeom>
          <a:solidFill>
            <a:srgbClr val="1E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23560" y="2779776"/>
            <a:ext cx="64008" cy="15361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88152" y="2816352"/>
            <a:ext cx="5852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WHAT PRODUCTS GO INSIDE?</a:t>
            </a:r>
            <a:endParaRPr sz="900" b="1" i="0">
              <a:solidFill>
                <a:srgbClr val="FBBF24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788152" y="310896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Milk (200ml, 500ml)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788152" y="3383279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Refined oil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788152" y="365760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Drinking water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788152" y="393192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Candy &amp; toffee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788152" y="420624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Biscuits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705088" y="310896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Bread loaf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705088" y="3383279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Shampoo sachet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05088" y="365760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Tomato sauce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705088" y="393192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Noodles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705088" y="420624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Ice cream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623560" y="4370832"/>
            <a:ext cx="6108192" cy="137160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23560" y="4370832"/>
            <a:ext cx="64008" cy="1371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88152" y="4407408"/>
            <a:ext cx="5852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TYPICAL FILM STRUCTURES USED</a:t>
            </a:r>
            <a:endParaRPr sz="900" b="1" i="0">
              <a:solidFill>
                <a:srgbClr val="A78BFA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788152" y="4700016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1.  PET + PE  (standard liquid barrier — milk, oil)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788152" y="4974336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2.  LLDPE single layer  (low-cost water pouches)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788152" y="5248655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3.  PET + MET PET + PE  (oil, shampoo — high barrier)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788152" y="5522975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4.  BOPP + CPP  (flow wrap — biscuits, candy)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623560" y="5797296"/>
            <a:ext cx="6108192" cy="566928"/>
          </a:xfrm>
          <a:prstGeom prst="rect">
            <a:avLst/>
          </a:prstGeom>
          <a:solidFill>
            <a:srgbClr val="0C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623560" y="5797296"/>
            <a:ext cx="6400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88152" y="5833872"/>
            <a:ext cx="585215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4D399"/>
                </a:solidFill>
              </a:rPr>
              <a:t>💡  W entered is HALF the pouch face. Film Width = 2W+seal. HFFS machines use this structure — continuous film fed from roll.</a:t>
            </a:r>
            <a:endParaRPr sz="900" b="0" i="1">
              <a:solidFill>
                <a:srgbClr val="34D399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155680" y="6565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5 / 14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"/>
            <a:ext cx="438912" cy="43891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1426"/>
                </a:solidFill>
              </a:rPr>
              <a:t>③</a:t>
            </a:r>
            <a:endParaRPr sz="2000" b="1" i="0">
              <a:solidFill>
                <a:srgbClr val="0B142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B923C"/>
                </a:solidFill>
              </a:rPr>
              <a:t>STANDUP POUCH / ZIPPER POUCH</a:t>
            </a:r>
            <a:endParaRPr sz="2600" b="1" i="0">
              <a:solidFill>
                <a:srgbClr val="FB923C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7552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Bottom gusset lets the pouch stand upright on shelf</a:t>
            </a:r>
            <a:endParaRPr sz="1200" b="0" i="1">
              <a:solidFill>
                <a:srgbClr val="94A3B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932688"/>
            <a:ext cx="11274552" cy="365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24128"/>
            <a:ext cx="4937760" cy="283464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29384" y="1292047"/>
            <a:ext cx="1993391" cy="2267712"/>
          </a:xfrm>
          <a:prstGeom prst="rect">
            <a:avLst/>
          </a:prstGeom>
          <a:solidFill>
            <a:srgbClr val="18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9384" y="1292047"/>
            <a:ext cx="219456" cy="1901952"/>
          </a:xfrm>
          <a:prstGeom prst="rect">
            <a:avLst/>
          </a:prstGeom>
          <a:solidFill>
            <a:srgbClr val="2A2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03320" y="1292047"/>
            <a:ext cx="219456" cy="1901952"/>
          </a:xfrm>
          <a:prstGeom prst="rect">
            <a:avLst/>
          </a:prstGeom>
          <a:solidFill>
            <a:srgbClr val="2A2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48840" y="1292047"/>
            <a:ext cx="1554480" cy="164592"/>
          </a:xfrm>
          <a:prstGeom prst="rect">
            <a:avLst/>
          </a:prstGeom>
          <a:solidFill>
            <a:srgbClr val="464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48840" y="1456639"/>
            <a:ext cx="1554480" cy="1737360"/>
          </a:xfrm>
          <a:prstGeom prst="rect">
            <a:avLst/>
          </a:prstGeom>
          <a:solidFill>
            <a:srgbClr val="202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29384" y="3193999"/>
            <a:ext cx="1993391" cy="365760"/>
          </a:xfrm>
          <a:prstGeom prst="rect">
            <a:avLst/>
          </a:prstGeom>
          <a:solidFill>
            <a:srgbClr val="087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243023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BODY</a:t>
            </a:r>
            <a:endParaRPr sz="8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78608" y="3248863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B1426"/>
                </a:solidFill>
              </a:rPr>
              <a:t>GUSSET</a:t>
            </a:r>
            <a:endParaRPr sz="700" b="1" i="0">
              <a:solidFill>
                <a:srgbClr val="0B1426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48840" y="1273759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B923C"/>
                </a:solidFill>
              </a:rPr>
              <a:t>TOP SEAL</a:t>
            </a:r>
            <a:endParaRPr sz="600" b="0" i="0">
              <a:solidFill>
                <a:srgbClr val="FB923C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11096" y="1703527"/>
            <a:ext cx="265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FB923C"/>
                </a:solidFill>
              </a:rPr>
              <a:t>SIDE</a:t>
            </a:r>
            <a:endParaRPr sz="500" b="0" i="0">
              <a:solidFill>
                <a:srgbClr val="FB923C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025396" y="1292047"/>
            <a:ext cx="27432" cy="1901952"/>
          </a:xfrm>
          <a:prstGeom prst="rect">
            <a:avLst/>
          </a:prstGeom>
          <a:solidFill>
            <a:srgbClr val="605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332" y="1292047"/>
            <a:ext cx="27432" cy="1901952"/>
          </a:xfrm>
          <a:prstGeom prst="rect">
            <a:avLst/>
          </a:prstGeom>
          <a:solidFill>
            <a:srgbClr val="605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32911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B923C"/>
                </a:solidFill>
              </a:rPr>
              <a:t>← W+2×Side Seal = Film Width →</a:t>
            </a:r>
            <a:endParaRPr sz="800" b="1" i="0">
              <a:solidFill>
                <a:srgbClr val="FB923C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3852367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Gusset÷2 folds into repeat length</a:t>
            </a:r>
            <a:endParaRPr sz="800" b="0" i="1">
              <a:solidFill>
                <a:srgbClr val="94A3B8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3913632"/>
            <a:ext cx="4937760" cy="1261872"/>
          </a:xfrm>
          <a:prstGeom prst="rect">
            <a:avLst/>
          </a:prstGeom>
          <a:solidFill>
            <a:srgbClr val="1E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913632"/>
            <a:ext cx="64008" cy="126187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95020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923C"/>
                </a:solidFill>
              </a:rPr>
              <a:t>FILM WIDTH (across web):</a:t>
            </a:r>
            <a:endParaRPr sz="800" b="1" i="0">
              <a:solidFill>
                <a:srgbClr val="FB923C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4360" y="41879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Film Width  =  W  +  (2 × Side Seal)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94360" y="4553712"/>
            <a:ext cx="4736592" cy="27432"/>
          </a:xfrm>
          <a:prstGeom prst="rect">
            <a:avLst/>
          </a:prstGeom>
          <a:solidFill>
            <a:srgbClr val="253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59028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923C"/>
                </a:solidFill>
              </a:rPr>
              <a:t>REPEAT LENGTH (cyl. circumference):</a:t>
            </a:r>
            <a:endParaRPr sz="800" b="1" i="0">
              <a:solidFill>
                <a:srgbClr val="FB923C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48280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Repeat  =  H  +  Top Seal  +  Bottom Gusset ÷ 2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5212080"/>
            <a:ext cx="4937760" cy="502920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212080"/>
            <a:ext cx="64008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24865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Example: W=150, H=220, Top=12, Side=10, Gusset=60 → Film=170mm, Repeat=262mm</a:t>
            </a:r>
            <a:endParaRPr sz="1000" b="1" i="0">
              <a:solidFill>
                <a:srgbClr val="34D399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623560" y="1024128"/>
            <a:ext cx="6108192" cy="169164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23560" y="1024128"/>
            <a:ext cx="64008" cy="16916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88152" y="1060704"/>
            <a:ext cx="5852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923C"/>
                </a:solidFill>
              </a:rPr>
              <a:t>WHERE IS IT USED?</a:t>
            </a:r>
            <a:endParaRPr sz="900" b="1" i="0">
              <a:solidFill>
                <a:srgbClr val="FB923C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88152" y="1353312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Retail shelf display — stands without support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88152" y="1645920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Premium FMCG — dry fruits, nuts, protein powder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88152" y="1938528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Pet food — kibble, treats, supplements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788152" y="2231136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E-commerce packaging — reusable with zipper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788152" y="2523744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Organic / health food — premium segment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623560" y="2779776"/>
            <a:ext cx="6108192" cy="1536192"/>
          </a:xfrm>
          <a:prstGeom prst="rect">
            <a:avLst/>
          </a:prstGeom>
          <a:solidFill>
            <a:srgbClr val="1E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23560" y="2779776"/>
            <a:ext cx="64008" cy="15361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88152" y="2816352"/>
            <a:ext cx="5852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WHAT PRODUCTS GO INSIDE?</a:t>
            </a:r>
            <a:endParaRPr sz="900" b="1" i="0">
              <a:solidFill>
                <a:srgbClr val="FBBF24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788152" y="310896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Dry fruits &amp; nuts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788152" y="3383279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Protein powder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788152" y="365760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Pet food &amp; treats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88152" y="393192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Coffee beans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788152" y="420624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Quinoa &amp; superfoods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05088" y="310896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Washing powder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705088" y="3383279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Gummies &amp; supplements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705088" y="365760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Baby food (puffed)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705088" y="393192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Makhana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705088" y="420624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Seeds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623560" y="4370832"/>
            <a:ext cx="6108192" cy="137160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23560" y="4370832"/>
            <a:ext cx="64008" cy="1371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88152" y="4407408"/>
            <a:ext cx="5852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TYPICAL FILM STRUCTURES USED</a:t>
            </a:r>
            <a:endParaRPr sz="900" b="1" i="0">
              <a:solidFill>
                <a:srgbClr val="A78BFA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788152" y="4700016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1.  PET + AL Foil + PE  (best barrier — coffee, protein)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788152" y="4974336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2.  BOPP + CPP  (cost effective — snacks, dry items)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788152" y="5248655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3.  PET + MET PET + PE  (metallic look — premium)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788152" y="5522975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4.  PET + PE with matte OPP  (organic / natural look)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623560" y="5797296"/>
            <a:ext cx="6108192" cy="566928"/>
          </a:xfrm>
          <a:prstGeom prst="rect">
            <a:avLst/>
          </a:prstGeom>
          <a:solidFill>
            <a:srgbClr val="0C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23560" y="5797296"/>
            <a:ext cx="6400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88152" y="5833872"/>
            <a:ext cx="585215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4D399"/>
                </a:solidFill>
              </a:rPr>
              <a:t>💡  Gusset/2 added to repeat — e.g. 60mm gusset adds 30mm to cylinder. Zipper pouch same as standup + zipper strip cut 20–25mm from top.</a:t>
            </a:r>
            <a:endParaRPr sz="900" b="0" i="1">
              <a:solidFill>
                <a:srgbClr val="34D399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1155680" y="6565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6 / 14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"/>
            <a:ext cx="438912" cy="43891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1426"/>
                </a:solidFill>
              </a:rPr>
              <a:t>④</a:t>
            </a:r>
            <a:endParaRPr sz="2000" b="1" i="0">
              <a:solidFill>
                <a:srgbClr val="0B142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78BFA"/>
                </a:solidFill>
              </a:rPr>
              <a:t>BOTH SIDE GUSSET POUCH</a:t>
            </a:r>
            <a:endParaRPr sz="2600" b="1" i="0">
              <a:solidFill>
                <a:srgbClr val="A78BF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7552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Gussets on both sides expand laterally for high-volume products</a:t>
            </a:r>
            <a:endParaRPr sz="1200" b="0" i="1">
              <a:solidFill>
                <a:srgbClr val="94A3B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932688"/>
            <a:ext cx="11274552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24128"/>
            <a:ext cx="4937760" cy="283464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92808" y="1285646"/>
            <a:ext cx="2066543" cy="2249424"/>
          </a:xfrm>
          <a:prstGeom prst="rect">
            <a:avLst/>
          </a:prstGeom>
          <a:solidFill>
            <a:srgbClr val="1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92808" y="1285646"/>
            <a:ext cx="347472" cy="2249424"/>
          </a:xfrm>
          <a:prstGeom prst="rect">
            <a:avLst/>
          </a:prstGeom>
          <a:solidFill>
            <a:srgbClr val="521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285646"/>
            <a:ext cx="347472" cy="2249424"/>
          </a:xfrm>
          <a:prstGeom prst="rect">
            <a:avLst/>
          </a:prstGeom>
          <a:solidFill>
            <a:srgbClr val="521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0280" y="1285646"/>
            <a:ext cx="1371600" cy="164592"/>
          </a:xfrm>
          <a:prstGeom prst="rect">
            <a:avLst/>
          </a:prstGeom>
          <a:solidFill>
            <a:srgbClr val="703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40280" y="3370478"/>
            <a:ext cx="1371600" cy="164592"/>
          </a:xfrm>
          <a:prstGeom prst="rect">
            <a:avLst/>
          </a:prstGeom>
          <a:solidFill>
            <a:srgbClr val="703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40280" y="1450238"/>
            <a:ext cx="1371600" cy="1920240"/>
          </a:xfrm>
          <a:prstGeom prst="rect">
            <a:avLst/>
          </a:prstGeom>
          <a:solidFill>
            <a:srgbClr val="2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2828" y="1285646"/>
            <a:ext cx="27432" cy="2249424"/>
          </a:xfrm>
          <a:prstGeom prst="rect">
            <a:avLst/>
          </a:prstGeom>
          <a:solidFill>
            <a:srgbClr val="987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71900" y="1285646"/>
            <a:ext cx="27432" cy="2249424"/>
          </a:xfrm>
          <a:prstGeom prst="rect">
            <a:avLst/>
          </a:prstGeom>
          <a:solidFill>
            <a:srgbClr val="987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0048" y="237378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BODY</a:t>
            </a:r>
            <a:endParaRPr sz="800" b="1" i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11096" y="2140427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0B1426"/>
                </a:solidFill>
              </a:rPr>
              <a:t>SIDE
GUSSET</a:t>
            </a:r>
            <a:endParaRPr sz="500" b="0" i="0">
              <a:solidFill>
                <a:srgbClr val="0B1426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40280" y="126735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A78BFA"/>
                </a:solidFill>
              </a:rPr>
              <a:t>TOP SEAL</a:t>
            </a:r>
            <a:endParaRPr sz="600" b="0" i="0">
              <a:solidFill>
                <a:srgbClr val="A78BFA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40280" y="3361334"/>
            <a:ext cx="137160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A78BFA"/>
                </a:solidFill>
              </a:rPr>
              <a:t>BTM SEAL</a:t>
            </a:r>
            <a:endParaRPr sz="600" b="0" i="0">
              <a:solidFill>
                <a:srgbClr val="A78BFA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360822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</a:rPr>
              <a:t>← W + 2×Side Gusset = Film Width →</a:t>
            </a:r>
            <a:endParaRPr sz="800" b="1" i="0">
              <a:solidFill>
                <a:srgbClr val="A78BFA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382767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Gussets expand sideways for volume</a:t>
            </a:r>
            <a:endParaRPr sz="800" b="0" i="1">
              <a:solidFill>
                <a:srgbClr val="94A3B8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3913632"/>
            <a:ext cx="4937760" cy="1261872"/>
          </a:xfrm>
          <a:prstGeom prst="rect">
            <a:avLst/>
          </a:prstGeom>
          <a:solidFill>
            <a:srgbClr val="1E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913632"/>
            <a:ext cx="64008" cy="12618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95020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</a:rPr>
              <a:t>FILM WIDTH (across web):</a:t>
            </a:r>
            <a:endParaRPr sz="800" b="1" i="0">
              <a:solidFill>
                <a:srgbClr val="A78BFA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4360" y="41879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Film Width  =  W  +  (2 × Side Gusset)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94360" y="4553712"/>
            <a:ext cx="4736592" cy="27432"/>
          </a:xfrm>
          <a:prstGeom prst="rect">
            <a:avLst/>
          </a:prstGeom>
          <a:solidFill>
            <a:srgbClr val="253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59028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</a:rPr>
              <a:t>REPEAT LENGTH (cyl. circumference):</a:t>
            </a:r>
            <a:endParaRPr sz="800" b="1" i="0">
              <a:solidFill>
                <a:srgbClr val="A78BFA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48280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Repeat  =  H  +  Top Seal  +  Bottom Seal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5212080"/>
            <a:ext cx="4937760" cy="502920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212080"/>
            <a:ext cx="64008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24865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Example: W=200, H=300, Top=15, Btm=12, Gusset=40 → Film=280mm, Repeat=327mm</a:t>
            </a:r>
            <a:endParaRPr sz="1000" b="1" i="0">
              <a:solidFill>
                <a:srgbClr val="34D399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623560" y="1024128"/>
            <a:ext cx="6108192" cy="169164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23560" y="1024128"/>
            <a:ext cx="64008" cy="1691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88152" y="1060704"/>
            <a:ext cx="5852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WHERE IS IT USED?</a:t>
            </a:r>
            <a:endParaRPr sz="900" b="1" i="0">
              <a:solidFill>
                <a:srgbClr val="A78BFA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88152" y="1353312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Heavy grain packaging — 2kg, 5kg, 10kg bags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88152" y="1645920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Industrial products — chemicals, fertilizer, animal feed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88152" y="1938528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Bulk retail — atta, rice, dal, sugar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788152" y="2231136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Construction — tile adhesive, grout, putty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788152" y="2523744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Agriculture — seeds, pesticide powder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623560" y="2779776"/>
            <a:ext cx="6108192" cy="1536192"/>
          </a:xfrm>
          <a:prstGeom prst="rect">
            <a:avLst/>
          </a:prstGeom>
          <a:solidFill>
            <a:srgbClr val="1E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23560" y="2779776"/>
            <a:ext cx="64008" cy="15361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88152" y="2816352"/>
            <a:ext cx="5852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WHAT PRODUCTS GO INSIDE?</a:t>
            </a:r>
            <a:endParaRPr sz="900" b="1" i="0">
              <a:solidFill>
                <a:srgbClr val="FBBF24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788152" y="310896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Rice (2kg, 5kg, 10kg)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788152" y="3383279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Wheat flour (atta)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788152" y="365760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Sugar &amp; jaggery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88152" y="393192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Dal &amp; pulses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788152" y="420624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Poha &amp; dry grains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05088" y="310896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Animal feed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705088" y="3383279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Fertilizer (IFFCO)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705088" y="365760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Tile adhesive powder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705088" y="393192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Cement admixture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705088" y="420624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Seeds (bulk)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623560" y="4370832"/>
            <a:ext cx="6108192" cy="137160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23560" y="4370832"/>
            <a:ext cx="64008" cy="1371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88152" y="4407408"/>
            <a:ext cx="5852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TYPICAL FILM STRUCTURES USED</a:t>
            </a:r>
            <a:endParaRPr sz="900" b="1" i="0">
              <a:solidFill>
                <a:srgbClr val="A78BFA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788152" y="4700016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1.  BOPP + CPP  (standard grain bags — rice, atta)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788152" y="4974336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2.  Woven PP laminate  (heavy-duty — fertilizer, cement)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788152" y="5248655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3.  PET + AL + PE  (moisture-sensitive — chemicals)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788152" y="5522975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4.  MET BOPP + CPP  (shiny grain bags — premium rice)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623560" y="5797296"/>
            <a:ext cx="6108192" cy="566928"/>
          </a:xfrm>
          <a:prstGeom prst="rect">
            <a:avLst/>
          </a:prstGeom>
          <a:solidFill>
            <a:srgbClr val="0C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23560" y="5797296"/>
            <a:ext cx="6400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88152" y="5833872"/>
            <a:ext cx="585215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4D399"/>
                </a:solidFill>
              </a:rPr>
              <a:t>💡  Unlike standup — gusset is on sides (width direction), not bottom. No gusset/2 in repeat. Higher film width per lane but simple repeat formula.</a:t>
            </a:r>
            <a:endParaRPr sz="900" b="0" i="1">
              <a:solidFill>
                <a:srgbClr val="34D399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1155680" y="6565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7 / 14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"/>
            <a:ext cx="438912" cy="43891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1426"/>
                </a:solidFill>
              </a:rPr>
              <a:t>⑤</a:t>
            </a:r>
            <a:endParaRPr sz="2000" b="1" i="0">
              <a:solidFill>
                <a:srgbClr val="0B142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DD4BF"/>
                </a:solidFill>
              </a:rPr>
              <a:t>3D POUCH / FLAT BOTTOM POUCH</a:t>
            </a:r>
            <a:endParaRPr sz="2600" b="1" i="0">
              <a:solidFill>
                <a:srgbClr val="2DD4B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7552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Premium block-bottom — stands upright with a flat rectangular base</a:t>
            </a:r>
            <a:endParaRPr sz="1200" b="0" i="1">
              <a:solidFill>
                <a:srgbClr val="94A3B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932688"/>
            <a:ext cx="11274552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24128"/>
            <a:ext cx="4937760" cy="283464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11096" y="1320393"/>
            <a:ext cx="2029967" cy="2103120"/>
          </a:xfrm>
          <a:prstGeom prst="rect">
            <a:avLst/>
          </a:prstGeom>
          <a:solidFill>
            <a:srgbClr val="08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11096" y="1320393"/>
            <a:ext cx="329184" cy="2103120"/>
          </a:xfrm>
          <a:prstGeom prst="rect">
            <a:avLst/>
          </a:prstGeom>
          <a:solidFill>
            <a:srgbClr val="044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320393"/>
            <a:ext cx="329184" cy="2103120"/>
          </a:xfrm>
          <a:prstGeom prst="rect">
            <a:avLst/>
          </a:prstGeom>
          <a:solidFill>
            <a:srgbClr val="044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0280" y="1320393"/>
            <a:ext cx="1371600" cy="164592"/>
          </a:xfrm>
          <a:prstGeom prst="rect">
            <a:avLst/>
          </a:prstGeom>
          <a:solidFill>
            <a:srgbClr val="0A7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40280" y="1484985"/>
            <a:ext cx="1371600" cy="1737360"/>
          </a:xfrm>
          <a:prstGeom prst="rect">
            <a:avLst/>
          </a:prstGeom>
          <a:solidFill>
            <a:srgbClr val="0A2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11096" y="3222345"/>
            <a:ext cx="2029967" cy="201168"/>
          </a:xfrm>
          <a:prstGeom prst="rect">
            <a:avLst/>
          </a:prstGeom>
          <a:solidFill>
            <a:srgbClr val="0A7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40280" y="3314882"/>
            <a:ext cx="1371600" cy="22860"/>
          </a:xfrm>
          <a:prstGeom prst="rect">
            <a:avLst/>
          </a:prstGeom>
          <a:solidFill>
            <a:srgbClr val="60D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61972" y="1320393"/>
            <a:ext cx="27432" cy="2103120"/>
          </a:xfrm>
          <a:prstGeom prst="rect">
            <a:avLst/>
          </a:prstGeom>
          <a:solidFill>
            <a:srgbClr val="28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2756" y="1320393"/>
            <a:ext cx="27432" cy="2103120"/>
          </a:xfrm>
          <a:prstGeom prst="rect">
            <a:avLst/>
          </a:prstGeom>
          <a:solidFill>
            <a:srgbClr val="28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0048" y="2289657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BODY</a:t>
            </a:r>
            <a:endParaRPr sz="800" b="1" i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29384" y="2077516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0B1426"/>
                </a:solidFill>
              </a:rPr>
              <a:t>SIDE
GUSSET</a:t>
            </a:r>
            <a:endParaRPr sz="500" b="0" i="0">
              <a:solidFill>
                <a:srgbClr val="0B1426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40280" y="1302105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2DD4BF"/>
                </a:solidFill>
              </a:rPr>
              <a:t>TOP SEAL</a:t>
            </a:r>
            <a:endParaRPr sz="600" b="0" i="0">
              <a:solidFill>
                <a:srgbClr val="2DD4B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40280" y="3240633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B1426"/>
                </a:solidFill>
              </a:rPr>
              <a:t>BTM FOLD</a:t>
            </a:r>
            <a:endParaRPr sz="600" b="0" i="0">
              <a:solidFill>
                <a:srgbClr val="0B1426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3496665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DD4BF"/>
                </a:solidFill>
              </a:rPr>
              <a:t>← W + 2×Side Gusset = Film Width →</a:t>
            </a:r>
            <a:endParaRPr sz="800" b="1" i="0">
              <a:solidFill>
                <a:srgbClr val="2DD4B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3716121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3D block shape — stands + has flat base</a:t>
            </a:r>
            <a:endParaRPr sz="800" b="0" i="1">
              <a:solidFill>
                <a:srgbClr val="94A3B8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3913632"/>
            <a:ext cx="4937760" cy="1261872"/>
          </a:xfrm>
          <a:prstGeom prst="rect">
            <a:avLst/>
          </a:prstGeom>
          <a:solidFill>
            <a:srgbClr val="1E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913632"/>
            <a:ext cx="64008" cy="12618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5020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FILM WIDTH (across web):</a:t>
            </a:r>
            <a:endParaRPr sz="800" b="1" i="0">
              <a:solidFill>
                <a:srgbClr val="2DD4B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4360" y="41879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Film Width  =  W  +  (2 × Side Gusset)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4360" y="4553712"/>
            <a:ext cx="4736592" cy="27432"/>
          </a:xfrm>
          <a:prstGeom prst="rect">
            <a:avLst/>
          </a:prstGeom>
          <a:solidFill>
            <a:srgbClr val="253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59028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REPEAT LENGTH (cyl. circumference):</a:t>
            </a:r>
            <a:endParaRPr sz="800" b="1" i="0">
              <a:solidFill>
                <a:srgbClr val="2DD4B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4360" y="48280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Repeat  =  H  +  Top Seal  +  Bottom Gusset ÷ 2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57200" y="5212080"/>
            <a:ext cx="4937760" cy="502920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212080"/>
            <a:ext cx="64008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24865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Example: W=180, H=280, Top=12, Side=35, BtmGusset=80 → Film=250mm, Repeat=332mm</a:t>
            </a:r>
            <a:endParaRPr sz="1000" b="1" i="0">
              <a:solidFill>
                <a:srgbClr val="34D399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623560" y="1024128"/>
            <a:ext cx="6108192" cy="169164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23560" y="1024128"/>
            <a:ext cx="64008" cy="16916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88152" y="1060704"/>
            <a:ext cx="5852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WHERE IS IT USED?</a:t>
            </a:r>
            <a:endParaRPr sz="900" b="1" i="0">
              <a:solidFill>
                <a:srgbClr val="2DD4B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88152" y="1353312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Premium coffee &amp; specialty tea — high street retail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88152" y="1645920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Cosmetics &amp; personal care — serums, powders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788152" y="1938528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Gourmet food — imported chocolate, artisan products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788152" y="2231136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Organic &amp; natural — quinoa, chia, health foods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788152" y="2523744"/>
            <a:ext cx="5833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▸  Gift packaging — premium dry fruits, sweets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623560" y="2779776"/>
            <a:ext cx="6108192" cy="1536192"/>
          </a:xfrm>
          <a:prstGeom prst="rect">
            <a:avLst/>
          </a:prstGeom>
          <a:solidFill>
            <a:srgbClr val="1E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23560" y="2779776"/>
            <a:ext cx="64008" cy="15361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88152" y="2816352"/>
            <a:ext cx="5852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WHAT PRODUCTS GO INSIDE?</a:t>
            </a:r>
            <a:endParaRPr sz="900" b="1" i="0">
              <a:solidFill>
                <a:srgbClr val="FBBF24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788152" y="310896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Ground coffee (250g)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788152" y="3383279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Specialty tea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88152" y="365760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Premium chocolate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788152" y="393192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Organic quinoa &amp; seeds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788152" y="420624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Turmeric latte powder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705088" y="310896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Face wash powder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705088" y="3383279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Bath salts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705088" y="365760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Protein isolate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705088" y="393192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Premium dry fruits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705088" y="420624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Herbal supplements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623560" y="4370832"/>
            <a:ext cx="6108192" cy="137160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23560" y="4370832"/>
            <a:ext cx="64008" cy="1371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88152" y="4407408"/>
            <a:ext cx="5852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TYPICAL FILM STRUCTURES USED</a:t>
            </a:r>
            <a:endParaRPr sz="900" b="1" i="0">
              <a:solidFill>
                <a:srgbClr val="A78BFA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788152" y="4700016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1.  Kraft paper + PE  (sustainable / eco look — coffee)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788152" y="4974336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2.  PET + AL Foil + PE  (maximum barrier — coffee freshness)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788152" y="5248655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3.  Matte OPP + CPP  (soft-touch premium look)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788152" y="5522975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  4.  PET + MET PET + PE  (metallic premium — cosmetics)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623560" y="5797296"/>
            <a:ext cx="6108192" cy="566928"/>
          </a:xfrm>
          <a:prstGeom prst="rect">
            <a:avLst/>
          </a:prstGeom>
          <a:solidFill>
            <a:srgbClr val="0C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623560" y="5797296"/>
            <a:ext cx="6400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88152" y="5833872"/>
            <a:ext cx="585215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4D399"/>
                </a:solidFill>
              </a:rPr>
              <a:t>💡  Both side gusset AND bottom gusset — most complex to plan. Bottom gusset/2 in repeat (like standup). Side gussets in film width. Premium product only.</a:t>
            </a:r>
            <a:endParaRPr sz="900" b="0" i="1">
              <a:solidFill>
                <a:srgbClr val="34D399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1155680" y="6565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8 / 14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2029968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64592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6"/>
                </a:solidFill>
              </a:rPr>
              <a:t>MATERIAL GUIDE</a:t>
            </a:r>
            <a:endParaRPr sz="1000" b="1" i="0">
              <a:solidFill>
                <a:srgbClr val="0B142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4D399"/>
                </a:solidFill>
              </a:rPr>
              <a:t>Film Structure Selection Guide</a:t>
            </a:r>
            <a:endParaRPr sz="3000" b="1" i="0">
              <a:solidFill>
                <a:srgbClr val="34D39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Which laminate to choose based on product type and barrier requirement</a:t>
            </a:r>
            <a:endParaRPr sz="1500" b="0" i="0">
              <a:solidFill>
                <a:srgbClr val="94A3B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11274552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5669280" cy="146304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64008" cy="1463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190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BOPP + CPP</a:t>
            </a:r>
            <a:endParaRPr sz="1300" b="1" i="0">
              <a:solidFill>
                <a:srgbClr val="38BDF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1792" y="20482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BD5E1"/>
                </a:solidFill>
              </a:rPr>
              <a:t>Low cost · Good clarity · Seals well</a:t>
            </a:r>
            <a:endParaRPr sz="900" b="0" i="1">
              <a:solidFill>
                <a:srgbClr val="CBD5E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1792" y="2286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Use for: Namkeen, biscuits, dry snacks, confectionery</a:t>
            </a:r>
            <a:endParaRPr sz="900" b="0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" y="25420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⚠ Low barrier — not for moisture-sensitive products</a:t>
            </a:r>
            <a:endParaRPr sz="800" b="0" i="1">
              <a:solidFill>
                <a:srgbClr val="94A3B8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27648" y="1645920"/>
            <a:ext cx="5669280" cy="146304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645920"/>
            <a:ext cx="64008" cy="1463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190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PET + PE</a:t>
            </a:r>
            <a:endParaRPr sz="1300" b="1" i="0">
              <a:solidFill>
                <a:srgbClr val="34D399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40" y="20482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BD5E1"/>
                </a:solidFill>
              </a:rPr>
              <a:t>Good strength · Medium barrier · Food safe</a:t>
            </a:r>
            <a:endParaRPr sz="900" b="0" i="1">
              <a:solidFill>
                <a:srgbClr val="CBD5E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2240" y="2286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Use for: Milk, liquid pouches, oil (short shelf life)</a:t>
            </a:r>
            <a:endParaRPr sz="900" b="0" i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25420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⚠ Standard choice for most flexible pouches</a:t>
            </a:r>
            <a:endParaRPr sz="800" b="0" i="1">
              <a:solidFill>
                <a:srgbClr val="94A3B8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3218688"/>
            <a:ext cx="5669280" cy="146304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218688"/>
            <a:ext cx="64008" cy="14630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2918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PET + AL Foil + PE</a:t>
            </a:r>
            <a:endParaRPr sz="1300" b="1" i="0">
              <a:solidFill>
                <a:srgbClr val="FB923C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" y="36210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BD5E1"/>
                </a:solidFill>
              </a:rPr>
              <a:t>Maximum barrier · Long shelf life · Light-proof</a:t>
            </a:r>
            <a:endParaRPr sz="900" b="0" i="1">
              <a:solidFill>
                <a:srgbClr val="CBD5E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1792" y="38587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Use for: Coffee, spices, pharma, protein powder, chips</a:t>
            </a:r>
            <a:endParaRPr sz="900" b="0" i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792" y="4114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⚠ Most expensive — use only when shelf life &gt; 6 months</a:t>
            </a:r>
            <a:endParaRPr sz="800" b="0" i="1">
              <a:solidFill>
                <a:srgbClr val="94A3B8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327648" y="3218688"/>
            <a:ext cx="5669280" cy="146304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7648" y="3218688"/>
            <a:ext cx="64008" cy="1463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2918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PET + MET PET + PE</a:t>
            </a:r>
            <a:endParaRPr sz="1300" b="1" i="0">
              <a:solidFill>
                <a:srgbClr val="A78BFA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2240" y="36210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BD5E1"/>
                </a:solidFill>
              </a:rPr>
              <a:t>High barrier · Metallic look · Premium feel</a:t>
            </a:r>
            <a:endParaRPr sz="900" b="0" i="1">
              <a:solidFill>
                <a:srgbClr val="CBD5E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92240" y="38587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Use for: Premium snacks, dry fruits, cosmetics</a:t>
            </a:r>
            <a:endParaRPr sz="900" b="0" i="0">
              <a:solidFill>
                <a:srgbClr val="FFFFFF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92240" y="4114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⚠ Good balance of cost and barrier for premium segment</a:t>
            </a:r>
            <a:endParaRPr sz="800" b="0" i="1">
              <a:solidFill>
                <a:srgbClr val="94A3B8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7200" y="4791456"/>
            <a:ext cx="5669280" cy="146304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791456"/>
            <a:ext cx="64008" cy="1463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486460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Kraft Paper + PE</a:t>
            </a:r>
            <a:endParaRPr sz="1300" b="1" i="0">
              <a:solidFill>
                <a:srgbClr val="2DD4B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1792" y="51937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BD5E1"/>
                </a:solidFill>
              </a:rPr>
              <a:t>Eco look · Biodegradable appearance · Sustainable branding</a:t>
            </a:r>
            <a:endParaRPr sz="900" b="0" i="1">
              <a:solidFill>
                <a:srgbClr val="CBD5E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21792" y="54315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Use for: Organic coffee, health foods, natural cosmetics</a:t>
            </a:r>
            <a:endParaRPr sz="900" b="0" i="0">
              <a:solidFill>
                <a:srgbClr val="FFFFF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1792" y="56875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⚠ Lower barrier than foil — needs dry product</a:t>
            </a:r>
            <a:endParaRPr sz="800" b="0" i="1">
              <a:solidFill>
                <a:srgbClr val="94A3B8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27648" y="4791456"/>
            <a:ext cx="5669280" cy="146304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27648" y="4791456"/>
            <a:ext cx="64008" cy="1463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86460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Woven PP Laminate</a:t>
            </a:r>
            <a:endParaRPr sz="1300" b="1" i="0">
              <a:solidFill>
                <a:srgbClr val="FBBF24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92240" y="51937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BD5E1"/>
                </a:solidFill>
              </a:rPr>
              <a:t>Very high strength · Heavy loads · Tear resistant</a:t>
            </a:r>
            <a:endParaRPr sz="900" b="0" i="1">
              <a:solidFill>
                <a:srgbClr val="CBD5E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92240" y="54315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Use for: Rice (10kg+), fertilizer, cement, animal feed</a:t>
            </a:r>
            <a:endParaRPr sz="900" b="0" i="0">
              <a:solidFill>
                <a:srgbClr val="FFFFFF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92240" y="56875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⚠ Industrial use only — not for food contact without liner</a:t>
            </a:r>
            <a:endParaRPr sz="800" b="0" i="1">
              <a:solidFill>
                <a:srgbClr val="94A3B8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155680" y="6565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9 / 14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1792224" cy="34747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64592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6"/>
                </a:solidFill>
              </a:rPr>
              <a:t>LIVE EXAMPLE</a:t>
            </a:r>
            <a:endParaRPr sz="1000" b="1" i="0">
              <a:solidFill>
                <a:srgbClr val="0B142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B923C"/>
                </a:solidFill>
              </a:rPr>
              <a:t>Complete Calculation Walkthrough</a:t>
            </a:r>
            <a:endParaRPr sz="3000" b="1" i="0">
              <a:solidFill>
                <a:srgbClr val="FB923C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3 Side Seal Pouch — 130mm × 200mm — 1080mm machine</a:t>
            </a:r>
            <a:endParaRPr sz="1500" b="0" i="0">
              <a:solidFill>
                <a:srgbClr val="94A3B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11274552" cy="365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64208"/>
            <a:ext cx="64008" cy="15361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" y="1755648"/>
            <a:ext cx="822960" cy="3108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75564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426"/>
                </a:solidFill>
              </a:rPr>
              <a:t>STEP 1</a:t>
            </a:r>
            <a:endParaRPr sz="900" b="1" i="0">
              <a:solidFill>
                <a:srgbClr val="0B142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99616" y="1755648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Enter Pouch Dimensions</a:t>
            </a:r>
            <a:endParaRPr sz="1200" b="1" i="0">
              <a:solidFill>
                <a:srgbClr val="38BDF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" y="2139696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Pouch Width (W) = 130 mm
Pouch Height (H) = 200 mm
Side Seal = 10 mm  |  Top Seal = 10 mm  |  Bottom Seal = 8 mm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27648" y="1664208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664208"/>
            <a:ext cx="64008" cy="15361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55664" y="1755648"/>
            <a:ext cx="822960" cy="31089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75564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426"/>
                </a:solidFill>
              </a:rPr>
              <a:t>STEP 2</a:t>
            </a:r>
            <a:endParaRPr sz="900" b="1" i="0">
              <a:solidFill>
                <a:srgbClr val="0B1426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70064" y="1755648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Calculate Film Width</a:t>
            </a:r>
            <a:endParaRPr sz="1200" b="1" i="0">
              <a:solidFill>
                <a:srgbClr val="34D399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2139696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Film Width = W + 2 × Side Seal
= 130 + 2×10 = 150 mm per lane
(this is what 1 AC UPS occupies across the film)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291840"/>
            <a:ext cx="64008" cy="153619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6" y="3383280"/>
            <a:ext cx="822960" cy="31089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338328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426"/>
                </a:solidFill>
              </a:rPr>
              <a:t>STEP 3</a:t>
            </a:r>
            <a:endParaRPr sz="900" b="1" i="0">
              <a:solidFill>
                <a:srgbClr val="0B1426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99616" y="3383280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Calculate Repeat Length</a:t>
            </a:r>
            <a:endParaRPr sz="1200" b="1" i="0">
              <a:solidFill>
                <a:srgbClr val="FB923C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792" y="3767328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Repeat = H + Top Seal + Bottom Seal
= 200 + 10 + 8 = 218 mm
(this must divide evenly into cylinder circumference)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327648" y="3291840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7648" y="3291840"/>
            <a:ext cx="64008" cy="15361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55664" y="3383280"/>
            <a:ext cx="822960" cy="31089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338328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426"/>
                </a:solidFill>
              </a:rPr>
              <a:t>STEP 4</a:t>
            </a:r>
            <a:endParaRPr sz="900" b="1" i="0">
              <a:solidFill>
                <a:srgbClr val="0B1426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70064" y="3383280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Calculate AC UPS</a:t>
            </a:r>
            <a:endParaRPr sz="1200" b="1" i="0">
              <a:solidFill>
                <a:srgbClr val="A78BFA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92240" y="3767328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Machine Width = 1080 mm  |  Trim = 10mm each side
Usable width = 1080 - 20 = 1060 mm
AC UPS = floor(1060 ÷ 150) = 7 lanes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7200" y="4919472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919472"/>
            <a:ext cx="64008" cy="15361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5216" y="5010912"/>
            <a:ext cx="822960" cy="3108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" y="501091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426"/>
                </a:solidFill>
              </a:rPr>
              <a:t>STEP 5</a:t>
            </a:r>
            <a:endParaRPr sz="900" b="1" i="0">
              <a:solidFill>
                <a:srgbClr val="0B1426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99616" y="5010912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</a:rPr>
              <a:t>Select Cylinder</a:t>
            </a:r>
            <a:endParaRPr sz="1200" b="1" i="0">
              <a:solidFill>
                <a:srgbClr val="2DD4B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1792" y="539496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Cylinder Circ must be multiple of 218 mm:
218×1=218  |  218×2=436  |  218×3=654 mm
Choose 436mm cylinder → 2 repeats per revolution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27648" y="4919472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27648" y="4919472"/>
            <a:ext cx="64008" cy="15361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55664" y="5010912"/>
            <a:ext cx="822960" cy="31089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501091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426"/>
                </a:solidFill>
              </a:rPr>
              <a:t>STEP 6</a:t>
            </a:r>
            <a:endParaRPr sz="900" b="1" i="0">
              <a:solidFill>
                <a:srgbClr val="0B1426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370064" y="5010912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Total UPS &amp; Film Usage</a:t>
            </a:r>
            <a:endParaRPr sz="1200" b="1" i="0">
              <a:solidFill>
                <a:srgbClr val="FBBF24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92240" y="539496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Total UPS = 7 AC UPS × 2 Repeat UPS = 14 pieces/rev
For 1,00,000 pouches: ceil(1,00,000 ÷ 14) = 7,143 meters
Film used: 7,143 m × 1060mm × GSM = X kg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155680" y="6565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10 / 14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1673352" cy="34747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64592"/>
            <a:ext cx="1636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6"/>
                </a:solidFill>
              </a:rPr>
              <a:t>AVOID THESE</a:t>
            </a:r>
            <a:endParaRPr sz="1000" b="1" i="0">
              <a:solidFill>
                <a:srgbClr val="0B142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7171"/>
                </a:solidFill>
              </a:rPr>
              <a:t>Common Mistakes in Pouch Planning</a:t>
            </a:r>
            <a:endParaRPr sz="3000" b="1" i="0">
              <a:solidFill>
                <a:srgbClr val="F8717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Errors that cause machine stops, cylinder rejection, or film waste</a:t>
            </a:r>
            <a:endParaRPr sz="1500" b="0" i="0">
              <a:solidFill>
                <a:srgbClr val="94A3B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11274552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27632"/>
            <a:ext cx="64008" cy="153619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190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</a:rPr>
              <a:t>❌ Forgetting to add seals to film width</a:t>
            </a:r>
            <a:endParaRPr sz="1100" b="1" i="0">
              <a:solidFill>
                <a:srgbClr val="FCA5A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1792" y="2139696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Seal width (8–12mm per side) MUST be added to W.
Forgetting adds 16–24mm error per lane → 1–2 UPS less than expected.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27648" y="1627632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7648" y="1627632"/>
            <a:ext cx="64008" cy="153619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190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</a:rPr>
              <a:t>❌ Not adding gusset/2 to repeat length</a:t>
            </a:r>
            <a:endParaRPr sz="1100" b="1" i="0">
              <a:solidFill>
                <a:srgbClr val="FCA5A5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2139696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For standup &amp; 3D pouches, gusset folds in half.
Missing this = cylinder circumference is short → print misalign.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3255264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55264"/>
            <a:ext cx="64008" cy="153619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34670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</a:rPr>
              <a:t>❌ Using pouch W as film width for center seal</a:t>
            </a:r>
            <a:endParaRPr sz="1100" b="1" i="0">
              <a:solidFill>
                <a:srgbClr val="FCA5A5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1792" y="376732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Center seal: W is HALF width. Film = 2W + seal.
Using just W gives 50% wrong film — machine cannot run.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27648" y="3255264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27648" y="3255264"/>
            <a:ext cx="64008" cy="153619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34670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</a:rPr>
              <a:t>❌ Confusing side gusset vs. bottom gusset</a:t>
            </a:r>
            <a:endParaRPr sz="1100" b="1" i="0">
              <a:solidFill>
                <a:srgbClr val="FCA5A5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376732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Both-side gusset → gusset in width direction (adds to film W).
3D Flat Bottom → gusset in both directions (adds to W and H).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4882896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882896"/>
            <a:ext cx="64008" cy="153619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49743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</a:rPr>
              <a:t>❌ Cylinder circ not a multiple of repeat</a:t>
            </a:r>
            <a:endParaRPr sz="1100" b="1" i="0">
              <a:solidFill>
                <a:srgbClr val="FCA5A5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1792" y="539496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Even 1mm off = print register error on every revolution.
Always verify: cyl_circ % repeat_length &lt; 0.5mm.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27648" y="4882896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7648" y="4882896"/>
            <a:ext cx="64008" cy="153619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9743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</a:rPr>
              <a:t>❌ Wrong structure type for product</a:t>
            </a:r>
            <a:endParaRPr sz="1100" b="1" i="0">
              <a:solidFill>
                <a:srgbClr val="FCA5A5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92240" y="539496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Heavy product in 3-side seal = bag bursts on filling line.
Liquid in standup without proper seal = leakage at gusset junction.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155680" y="6565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11 / 14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1792224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64592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6"/>
                </a:solidFill>
              </a:rPr>
              <a:t>OUR SOLUTION</a:t>
            </a:r>
            <a:endParaRPr sz="1000" b="1" i="0">
              <a:solidFill>
                <a:srgbClr val="0B142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AJ Shrink ERP Automates All This</a:t>
            </a:r>
            <a:endParaRPr sz="3000" b="1" i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Select pouch type → enter dimensions → system calculates everything automatically</a:t>
            </a:r>
            <a:endParaRPr sz="1500" b="0" i="0">
              <a:solidFill>
                <a:srgbClr val="94A3B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112745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27632"/>
            <a:ext cx="64008" cy="15361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" y="1737360"/>
            <a:ext cx="384048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1426"/>
                </a:solidFill>
              </a:rPr>
              <a:t>1</a:t>
            </a:r>
            <a:endParaRPr sz="1600" b="1" i="0">
              <a:solidFill>
                <a:srgbClr val="0B142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8992" y="1737360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Auto Film Width</a:t>
            </a:r>
            <a:endParaRPr sz="1300" b="1" i="0">
              <a:solidFill>
                <a:srgbClr val="38BDF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" y="2157984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Select pouch type and the system auto-applies the correct formula.
3 Side = W+2S  |  Center = 2W+S  |  Gusset = W+2G
No manual formula — zero calculation errors.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27648" y="1627632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627632"/>
            <a:ext cx="64008" cy="15361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55664" y="1737360"/>
            <a:ext cx="384048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1426"/>
                </a:solidFill>
              </a:rPr>
              <a:t>2</a:t>
            </a:r>
            <a:endParaRPr sz="1600" b="1" i="0">
              <a:solidFill>
                <a:srgbClr val="0B1426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49440" y="1737360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Auto Repeat Length</a:t>
            </a:r>
            <a:endParaRPr sz="1300" b="1" i="0">
              <a:solidFill>
                <a:srgbClr val="34D399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2157984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Top seal, bottom seal, and gusset/2 are all added automatically.
The system picks the correct formula per pouch type.
Cylinder circumference is verified as exact multiple.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3255264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255264"/>
            <a:ext cx="64008" cy="153619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6" y="3364992"/>
            <a:ext cx="384048" cy="38404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33649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1426"/>
                </a:solidFill>
              </a:rPr>
              <a:t>3</a:t>
            </a:r>
            <a:endParaRPr sz="1600" b="1" i="0">
              <a:solidFill>
                <a:srgbClr val="0B1426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8992" y="3364992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Live UPS Planning</a:t>
            </a:r>
            <a:endParaRPr sz="1300" b="1" i="0">
              <a:solidFill>
                <a:srgbClr val="FB923C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792" y="3785615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Enter machine width and trims — system shows all valid plans.
AC UPS across × Repeat UPS = total pieces per revolution.
Best plan highlighted automatically (least waste, most UPS).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327648" y="3255264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7648" y="3255264"/>
            <a:ext cx="64008" cy="15361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55664" y="3364992"/>
            <a:ext cx="384048" cy="38404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33649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1426"/>
                </a:solidFill>
              </a:rPr>
              <a:t>4</a:t>
            </a:r>
            <a:endParaRPr sz="1600" b="1" i="0">
              <a:solidFill>
                <a:srgbClr val="0B1426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49440" y="3364992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Cylinder Matching</a:t>
            </a:r>
            <a:endParaRPr sz="1300" b="1" i="0">
              <a:solidFill>
                <a:srgbClr val="A78BFA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92240" y="3785615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Real cylinder stock checked first (±1mm tolerance).
If no stock match → special order cylinder auto-suggested.
Sleeve-based or cylinder-direct planning — both supported.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7200" y="4882896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882896"/>
            <a:ext cx="64008" cy="15361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5216" y="4992624"/>
            <a:ext cx="384048" cy="3840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" y="49926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1426"/>
                </a:solidFill>
              </a:rPr>
              <a:t>5</a:t>
            </a:r>
            <a:endParaRPr sz="1600" b="1" i="0">
              <a:solidFill>
                <a:srgbClr val="0B1426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78992" y="4992624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Dimension Diagram</a:t>
            </a:r>
            <a:endParaRPr sz="1300" b="1" i="0">
              <a:solidFill>
                <a:srgbClr val="2DD4B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1792" y="541324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Visual diagram shows exact film zones — seals, gussets, body.
Instant feedback as you type dimensions.
Client presentations — show exactly what will be printed.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27648" y="4882896"/>
            <a:ext cx="5669280" cy="1536192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27648" y="4882896"/>
            <a:ext cx="64008" cy="15361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55664" y="4992624"/>
            <a:ext cx="384048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49926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1426"/>
                </a:solidFill>
              </a:rPr>
              <a:t>6</a:t>
            </a:r>
            <a:endParaRPr sz="1600" b="1" i="0">
              <a:solidFill>
                <a:srgbClr val="0B1426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949440" y="4992624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Cost Estimation</a:t>
            </a:r>
            <a:endParaRPr sz="1300" b="1" i="0">
              <a:solidFill>
                <a:srgbClr val="FBBF24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92240" y="541324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Film cost, ink cost, cylinder cost, machine time — all calculated.
3 quantity breakdowns (Q1/Q2/Q3) in a single view.
Export to catalog → order → work order in one flow.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155680" y="6565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12 / 14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1197864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64592"/>
            <a:ext cx="1161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6"/>
                </a:solidFill>
              </a:rPr>
              <a:t>SUMMARY</a:t>
            </a:r>
            <a:endParaRPr sz="1000" b="1" i="0">
              <a:solidFill>
                <a:srgbClr val="0B142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</a:rPr>
              <a:t>Which Pouch for Which Product?</a:t>
            </a:r>
            <a:endParaRPr sz="3000" b="1" i="0">
              <a:solidFill>
                <a:srgbClr val="A78BF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Quick decision guide for sales &amp; estimation teams</a:t>
            </a:r>
            <a:endParaRPr sz="1500" b="0" i="0">
              <a:solidFill>
                <a:srgbClr val="94A3B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11274552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74552" cy="402336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664208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Pouch Type</a:t>
            </a:r>
            <a:endParaRPr sz="900" b="1" i="0">
              <a:solidFill>
                <a:srgbClr val="A78BF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78024" y="166420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Cost</a:t>
            </a:r>
            <a:endParaRPr sz="900" b="1" i="0">
              <a:solidFill>
                <a:srgbClr val="A78BFA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21024" y="166420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Barrier Req</a:t>
            </a:r>
            <a:endParaRPr sz="900" b="1" i="0">
              <a:solidFill>
                <a:srgbClr val="A78BF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01183" y="166420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Resealable</a:t>
            </a:r>
            <a:endParaRPr sz="900" b="1" i="0">
              <a:solidFill>
                <a:srgbClr val="A78BF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44183" y="166420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How it Stands</a:t>
            </a:r>
            <a:endParaRPr sz="900" b="1" i="0">
              <a:solidFill>
                <a:srgbClr val="A78BF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87183" y="166420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Best For</a:t>
            </a:r>
            <a:endParaRPr sz="900" b="1" i="0">
              <a:solidFill>
                <a:srgbClr val="A78BFA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2084831"/>
            <a:ext cx="11274552" cy="877824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084831"/>
            <a:ext cx="64008" cy="87782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157984"/>
            <a:ext cx="1783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3 Side Seal</a:t>
            </a:r>
            <a:endParaRPr sz="1100" b="1" i="0">
              <a:solidFill>
                <a:srgbClr val="38BDF8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68879" y="2340863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Low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11879" y="2340863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Low–Medium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92040" y="2340863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No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35040" y="2340863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Flat only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78040" y="2157984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Sachets, spices, seeds, snacks, pharma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3017520"/>
            <a:ext cx="11274552" cy="877824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017520"/>
            <a:ext cx="64008" cy="87782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090672"/>
            <a:ext cx="1783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Center Seal</a:t>
            </a:r>
            <a:endParaRPr sz="1100" b="1" i="0">
              <a:solidFill>
                <a:srgbClr val="34D399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68879" y="3273552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Low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11879" y="327355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Low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92040" y="3273552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No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35040" y="3273552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Flat / flow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78040" y="3090672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Milk, oil, water, sauce, candy, noodles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57200" y="3950208"/>
            <a:ext cx="11274552" cy="877824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950208"/>
            <a:ext cx="64008" cy="87782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023360"/>
            <a:ext cx="1783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923C"/>
                </a:solidFill>
              </a:rPr>
              <a:t>Standup Zipper</a:t>
            </a:r>
            <a:endParaRPr sz="1100" b="1" i="0">
              <a:solidFill>
                <a:srgbClr val="FB923C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468879" y="4206240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Medium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611879" y="42062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Medium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92040" y="4206240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Yes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35040" y="4206240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Stands up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178040" y="40233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Dry fruits, coffee, pet food, protein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57200" y="4882896"/>
            <a:ext cx="11274552" cy="877824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882896"/>
            <a:ext cx="64008" cy="87782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956048"/>
            <a:ext cx="1783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Both Gusset</a:t>
            </a:r>
            <a:endParaRPr sz="1100" b="1" i="0">
              <a:solidFill>
                <a:srgbClr val="A78BFA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468879" y="5138928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High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11879" y="513892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Medium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92040" y="5138928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No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035040" y="5138928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Flat+gusset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178040" y="495604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Rice, atta, fertilizer, bulk grains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57200" y="5815583"/>
            <a:ext cx="11274552" cy="877824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5815583"/>
            <a:ext cx="64008" cy="87782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888736"/>
            <a:ext cx="1783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3D Flat Bottom</a:t>
            </a:r>
            <a:endParaRPr sz="1100" b="1" i="0">
              <a:solidFill>
                <a:srgbClr val="2DD4BF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68879" y="6071616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Premium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611879" y="6071616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Medium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892040" y="6071616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Optional</a:t>
            </a:r>
            <a:endParaRPr sz="1000" b="0" i="0">
              <a:solidFill>
                <a:srgbClr val="CBD5E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035040" y="6071616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Block base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178040" y="5888736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Premium coffee, tea, cosmetics, organic</a:t>
            </a:r>
            <a:endParaRPr sz="900" b="0" i="0">
              <a:solidFill>
                <a:srgbClr val="CBD5E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155680" y="6565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13 / 14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0" y="1463040"/>
            <a:ext cx="5212080" cy="4023360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1463040"/>
            <a:ext cx="52120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1664208"/>
            <a:ext cx="52120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>
                <a:solidFill>
                  <a:srgbClr val="38BDF8"/>
                </a:solidFill>
              </a:rPr>
              <a:t>INDAS ANALYTICS PVT.LTC.</a:t>
            </a:r>
            <a:endParaRPr lang="en-US" sz="1800" b="1" i="0">
              <a:solidFill>
                <a:srgbClr val="38BDF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74720" y="224028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Thank You</a:t>
            </a:r>
            <a:endParaRPr sz="4400" b="1" i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89120" y="3108960"/>
            <a:ext cx="32918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3246120"/>
            <a:ext cx="521208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· Complete ERP Solution</a:t>
            </a:r>
            <a:endParaRPr sz="1300" b="0" i="0">
              <a:solidFill>
                <a:srgbClr val="94A3B8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20" y="374903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8BDF8"/>
                </a:solidFill>
              </a:rPr>
              <a:t>5 Pouch Types  ·  Auto Film Calculation  ·  Cylinder Planning  ·  Cost Estimation</a:t>
            </a:r>
            <a:endParaRPr sz="1000" b="0" i="1">
              <a:solidFill>
                <a:srgbClr val="38BDF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74720" y="4251960"/>
            <a:ext cx="521208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000" b="0" i="1">
              <a:solidFill>
                <a:srgbClr val="94A3B8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49039" y="5120640"/>
            <a:ext cx="749808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5120640"/>
            <a:ext cx="749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426"/>
                </a:solidFill>
              </a:rPr>
              <a:t>3SS</a:t>
            </a:r>
            <a:endParaRPr sz="900" b="1" i="0">
              <a:solidFill>
                <a:srgbClr val="0B142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663440" y="5120640"/>
            <a:ext cx="749808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5120640"/>
            <a:ext cx="749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426"/>
                </a:solidFill>
              </a:rPr>
              <a:t>CS</a:t>
            </a:r>
            <a:endParaRPr sz="900" b="1" i="0">
              <a:solidFill>
                <a:srgbClr val="0B1426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577840" y="5120640"/>
            <a:ext cx="749808" cy="4114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5120640"/>
            <a:ext cx="749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426"/>
                </a:solidFill>
              </a:rPr>
              <a:t>SUP</a:t>
            </a:r>
            <a:endParaRPr sz="900" b="1" i="0">
              <a:solidFill>
                <a:srgbClr val="0B1426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92240" y="5120640"/>
            <a:ext cx="749808" cy="411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5120640"/>
            <a:ext cx="749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426"/>
                </a:solidFill>
              </a:rPr>
              <a:t>BSG</a:t>
            </a:r>
            <a:endParaRPr sz="900" b="1" i="0">
              <a:solidFill>
                <a:srgbClr val="0B1426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406640" y="5120640"/>
            <a:ext cx="749808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5120640"/>
            <a:ext cx="749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426"/>
                </a:solidFill>
              </a:rPr>
              <a:t>3D</a:t>
            </a:r>
            <a:endParaRPr sz="900" b="1" i="0">
              <a:solidFill>
                <a:srgbClr val="0B1426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2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3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4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5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6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7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8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9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10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11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12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13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14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15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16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17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18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19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20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21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22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23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ags/tag24.xml><?xml version="1.0" encoding="utf-8"?>
<p:tagLst xmlns:p="http://schemas.openxmlformats.org/presentationml/2006/main">
  <p:tag name="KSO_WM_DIAGRAM_VIRTUALLY_FRAME" val="{&quot;height&quot;:354.9599212598425,&quot;left&quot;:36,&quot;top&quot;:129.6,&quot;width&quot;:908.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13001</Words>
  <Application>WPS Presentation</Application>
  <PresentationFormat>On-screen Show (4:3)</PresentationFormat>
  <Paragraphs>776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hp</cp:lastModifiedBy>
  <cp:revision>2</cp:revision>
  <dcterms:created xsi:type="dcterms:W3CDTF">2013-01-27T09:14:00Z</dcterms:created>
  <dcterms:modified xsi:type="dcterms:W3CDTF">2026-04-09T07:57:55Z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BA58BE98EAA343B7A71EE6109AAC9EB7_12</vt:lpwstr>
  </property>
  <property fmtid="{D5CDD505-2E9C-101B-9397-08002B2CF9AE}" pid="3" name="KSOProductBuildVer">
    <vt:lpwstr>1033-12.2.0.23155</vt:lpwstr>
  </property>
</Properties>
</file>